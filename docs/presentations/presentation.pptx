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Start with the practical pain point</a:t>
            </a:r>
          </a:p>
          <a:p>
            <a:pPr lvl="0" indent="0" marL="0">
              <a:buNone/>
            </a:pPr>
          </a:p>
          <a:p>
            <a:pPr lvl="0"/>
            <a:r>
              <a:rPr/>
              <a:t>Emphasize that we’re building on existing standards, not reinventing</a:t>
            </a:r>
          </a:p>
          <a:p>
            <a:pPr lvl="0" indent="0" marL="0">
              <a:buNone/>
            </a:pPr>
          </a:p>
          <a:p>
            <a:pPr lvl="0"/>
            <a:r>
              <a:rPr/>
              <a:t>These three domains cover majority of ER applications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Ground the audience in why this matters</a:t>
            </a:r>
          </a:p>
          <a:p>
            <a:pPr lvl="0" indent="0" marL="0">
              <a:buNone/>
            </a:pPr>
          </a:p>
          <a:p>
            <a:pPr lvl="0"/>
            <a:r>
              <a:rPr/>
              <a:t>Connect to their daily work</a:t>
            </a:r>
          </a:p>
          <a:p>
            <a:pPr lvl="0" indent="0" marL="0">
              <a:buNone/>
            </a:pPr>
          </a:p>
          <a:p>
            <a:pPr lvl="0"/>
            <a:r>
              <a:rPr/>
              <a:t>Emphasize reproducibility crisis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Build excitement about the benefits</a:t>
            </a:r>
          </a:p>
          <a:p>
            <a:pPr lvl="0" indent="0" marL="0">
              <a:buNone/>
            </a:pPr>
          </a:p>
          <a:p>
            <a:pPr lvl="0"/>
            <a:r>
              <a:rPr/>
              <a:t>Connect to regulatory expectations</a:t>
            </a:r>
          </a:p>
          <a:p>
            <a:pPr lvl="0" indent="0" marL="0">
              <a:buNone/>
            </a:pPr>
          </a:p>
          <a:p>
            <a:pPr lvl="0"/>
            <a:r>
              <a:rPr/>
              <a:t>Mention FDA’s push for computational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Don’t assume everyone knows SDTM-PK deeply</a:t>
            </a:r>
          </a:p>
          <a:p>
            <a:pPr lvl="0" indent="0" marL="0">
              <a:buNone/>
            </a:pPr>
          </a:p>
          <a:p>
            <a:pPr lvl="0"/>
            <a:r>
              <a:rPr/>
              <a:t>Show how we’re extending, not replacing</a:t>
            </a:r>
          </a:p>
          <a:p>
            <a:pPr lvl="0" indent="0" marL="0">
              <a:buNone/>
            </a:pPr>
          </a:p>
          <a:p>
            <a:pPr lvl="0"/>
            <a:r>
              <a:rPr/>
              <a:t>Emphasize the “gap” we’re filling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comparison helps frame the rest of the talk</a:t>
            </a:r>
          </a:p>
          <a:p>
            <a:pPr lvl="0" indent="0" marL="0">
              <a:buNone/>
            </a:pPr>
          </a:p>
          <a:p>
            <a:pPr lvl="0"/>
            <a:r>
              <a:rPr/>
              <a:t>Each domain has unique needs but shared principles</a:t>
            </a:r>
          </a:p>
          <a:p>
            <a:pPr lvl="0" indent="0" marL="0">
              <a:buNone/>
            </a:pPr>
          </a:p>
          <a:p>
            <a:pPr lvl="0"/>
            <a:r>
              <a:rPr/>
              <a:t>Will circle back to this throughout examples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most common ER analysis type</a:t>
            </a:r>
          </a:p>
          <a:p>
            <a:pPr lvl="0" indent="0" marL="0">
              <a:buNone/>
            </a:pPr>
          </a:p>
          <a:p>
            <a:pPr lvl="0"/>
            <a:r>
              <a:rPr/>
              <a:t>Similar to ADTTE structure</a:t>
            </a:r>
          </a:p>
          <a:p>
            <a:pPr lvl="0" indent="0" marL="0">
              <a:buNone/>
            </a:pPr>
          </a:p>
          <a:p>
            <a:pPr lvl="0"/>
            <a:r>
              <a:rPr/>
              <a:t>Exposure categorization is key decision point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Highlight the AVAL derivation - key for standardization</a:t>
            </a:r>
          </a:p>
          <a:p>
            <a:pPr lvl="0" indent="0" marL="0">
              <a:buNone/>
            </a:pPr>
          </a:p>
          <a:p>
            <a:pPr lvl="0"/>
            <a:r>
              <a:rPr/>
              <a:t>EVENT variable is modeling convenience</a:t>
            </a:r>
          </a:p>
          <a:p>
            <a:pPr lvl="0" indent="0" marL="0">
              <a:buNone/>
            </a:pPr>
          </a:p>
          <a:p>
            <a:pPr lvl="0"/>
            <a:r>
              <a:rPr/>
              <a:t>Exposure categorization is common pattern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Show the “payoff” - clean data ready for standard tools</a:t>
            </a:r>
          </a:p>
          <a:p>
            <a:pPr lvl="0" indent="0" marL="0">
              <a:buNone/>
            </a:pPr>
          </a:p>
          <a:p>
            <a:pPr lvl="0"/>
            <a:r>
              <a:rPr/>
              <a:t>Both continuous and categorical approaches supported</a:t>
            </a:r>
          </a:p>
          <a:p>
            <a:pPr lvl="0" indent="0" marL="0">
              <a:buNone/>
            </a:pPr>
          </a:p>
          <a:p>
            <a:pPr lvl="0"/>
            <a:r>
              <a:rPr/>
              <a:t>No data wrangling needed in modeling scripts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More complex than EE due to multiple structures</a:t>
            </a:r>
          </a:p>
          <a:p>
            <a:pPr lvl="0" indent="0" marL="0">
              <a:buNone/>
            </a:pPr>
          </a:p>
          <a:p>
            <a:pPr lvl="0"/>
            <a:r>
              <a:rPr/>
              <a:t>Each level serves different analytical purposes</a:t>
            </a:r>
          </a:p>
          <a:p>
            <a:pPr lvl="0" indent="0" marL="0">
              <a:buNone/>
            </a:pPr>
          </a:p>
          <a:p>
            <a:pPr lvl="0"/>
            <a:r>
              <a:rPr/>
              <a:t>Time-varying exposure is advanced topic</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Subject-level is good for overall safety profile</a:t>
            </a:r>
          </a:p>
          <a:p>
            <a:pPr lvl="0" indent="0" marL="0">
              <a:buNone/>
            </a:pPr>
          </a:p>
          <a:p>
            <a:pPr lvl="0"/>
            <a:r>
              <a:rPr/>
              <a:t>Rates normalize for exposure duration</a:t>
            </a:r>
          </a:p>
          <a:p>
            <a:pPr lvl="0" indent="0" marL="0">
              <a:buNone/>
            </a:pPr>
          </a:p>
          <a:p>
            <a:pPr lvl="0"/>
            <a:r>
              <a:rPr/>
              <a:t>Binary indicators for logistic regression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Event-level preserves granularity</a:t>
            </a:r>
          </a:p>
          <a:p>
            <a:pPr lvl="0" indent="0" marL="0">
              <a:buNone/>
            </a:pPr>
          </a:p>
          <a:p>
            <a:pPr lvl="0"/>
            <a:r>
              <a:rPr/>
              <a:t>Each AE has exposure context</a:t>
            </a:r>
          </a:p>
          <a:p>
            <a:pPr lvl="0" indent="0" marL="0">
              <a:buNone/>
            </a:pPr>
          </a:p>
          <a:p>
            <a:pPr lvl="0"/>
            <a:r>
              <a:rPr/>
              <a:t>Multiple events per subject supported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Most “clinical” of the three domains</a:t>
            </a:r>
          </a:p>
          <a:p>
            <a:pPr lvl="0" indent="0" marL="0">
              <a:buNone/>
            </a:pPr>
          </a:p>
          <a:p>
            <a:pPr lvl="0"/>
            <a:r>
              <a:rPr/>
              <a:t>RECIST is regulatory standard</a:t>
            </a:r>
          </a:p>
          <a:p>
            <a:pPr lvl="0" indent="0" marL="0">
              <a:buNone/>
            </a:pPr>
          </a:p>
          <a:p>
            <a:pPr lvl="0"/>
            <a:r>
              <a:rPr/>
              <a:t>Visual displays are critical for this domain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BASE variable is anchor point</a:t>
            </a:r>
          </a:p>
          <a:p>
            <a:pPr lvl="0" indent="0" marL="0">
              <a:buNone/>
            </a:pPr>
          </a:p>
          <a:p>
            <a:pPr lvl="0"/>
            <a:r>
              <a:rPr/>
              <a:t>CHG and PCHG are standard ADaM conventions</a:t>
            </a:r>
          </a:p>
          <a:p>
            <a:pPr lvl="0" indent="0" marL="0">
              <a:buNone/>
            </a:pPr>
          </a:p>
          <a:p>
            <a:pPr lvl="0"/>
            <a:r>
              <a:rPr/>
              <a:t>ABLFL identifies the reference point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RECIST thresholds are regulatory standard</a:t>
            </a:r>
          </a:p>
          <a:p>
            <a:pPr lvl="0" indent="0" marL="0">
              <a:buNone/>
            </a:pPr>
          </a:p>
          <a:p>
            <a:pPr lvl="0"/>
            <a:r>
              <a:rPr/>
              <a:t>BOR requires looking across all timepoints</a:t>
            </a:r>
          </a:p>
          <a:p>
            <a:pPr lvl="0" indent="0" marL="0">
              <a:buNone/>
            </a:pPr>
          </a:p>
          <a:p>
            <a:pPr lvl="0"/>
            <a:r>
              <a:rPr/>
              <a:t>This logic is reusable across studies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One record per subject-visit</a:t>
            </a:r>
          </a:p>
          <a:p>
            <a:pPr lvl="0" indent="0" marL="0">
              <a:buNone/>
            </a:pPr>
          </a:p>
          <a:p>
            <a:pPr lvl="0"/>
            <a:r>
              <a:rPr/>
              <a:t>BOR carried on all records for convenience</a:t>
            </a:r>
          </a:p>
          <a:p>
            <a:pPr lvl="0" indent="0" marL="0">
              <a:buNone/>
            </a:pPr>
          </a:p>
          <a:p>
            <a:pPr lvl="0"/>
            <a:r>
              <a:rPr/>
              <a:t>Ready for mixed models or response analysis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These commonalities enable code reuse</a:t>
            </a:r>
          </a:p>
          <a:p>
            <a:pPr lvl="0" indent="0" marL="0">
              <a:buNone/>
            </a:pPr>
          </a:p>
          <a:p>
            <a:pPr lvl="0"/>
            <a:r>
              <a:rPr/>
              <a:t>{admiral} functions can be extended</a:t>
            </a:r>
          </a:p>
          <a:p>
            <a:pPr lvl="0" indent="0" marL="0">
              <a:buNone/>
            </a:pPr>
          </a:p>
          <a:p>
            <a:pPr lvl="0"/>
            <a:r>
              <a:rPr/>
              <a:t>Similar QC approaches across domains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{admiral} is natural choice for this work</a:t>
            </a:r>
          </a:p>
          <a:p>
            <a:pPr lvl="0" indent="0" marL="0">
              <a:buNone/>
            </a:pPr>
          </a:p>
          <a:p>
            <a:pPr lvl="0"/>
            <a:r>
              <a:rPr/>
              <a:t>Already trusted in pharma</a:t>
            </a:r>
          </a:p>
          <a:p>
            <a:pPr lvl="0" indent="0" marL="0">
              <a:buNone/>
            </a:pPr>
          </a:p>
          <a:p>
            <a:pPr lvl="0"/>
            <a:r>
              <a:rPr/>
              <a:t>Extension functions maintain consistency</a:t>
            </a:r>
          </a:p>
          <a:p>
            <a:pPr lvl="0" indent="0" marL="0">
              <a:buNone/>
            </a:pPr>
          </a:p>
          <a:p>
            <a:pPr lvl="0"/>
            <a:r>
              <a:rPr/>
              <a:t>Could contribute back to pharmaverse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Show the pain point clearly</a:t>
            </a:r>
          </a:p>
          <a:p>
            <a:pPr lvl="0" indent="0" marL="0">
              <a:buNone/>
            </a:pPr>
          </a:p>
          <a:p>
            <a:pPr lvl="0"/>
            <a:r>
              <a:rPr/>
              <a:t>Inconsistency makes meta-analysis impossible</a:t>
            </a:r>
          </a:p>
          <a:p>
            <a:pPr lvl="0" indent="0" marL="0">
              <a:buNone/>
            </a:pPr>
          </a:p>
          <a:p>
            <a:pPr lvl="0"/>
            <a:r>
              <a:rPr/>
              <a:t>Standard approach = reusable code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Quantify benefits where possible</a:t>
            </a:r>
          </a:p>
          <a:p>
            <a:pPr lvl="0" indent="0" marL="0">
              <a:buNone/>
            </a:pPr>
          </a:p>
          <a:p>
            <a:pPr lvl="0"/>
            <a:r>
              <a:rPr/>
              <a:t>Appeal to practical efficiency gains</a:t>
            </a:r>
          </a:p>
          <a:p>
            <a:pPr lvl="0" indent="0" marL="0">
              <a:buNone/>
            </a:pPr>
          </a:p>
          <a:p>
            <a:pPr lvl="0"/>
            <a:r>
              <a:rPr/>
              <a:t>Quality and speed go together with standards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a starting point, not final answer</a:t>
            </a:r>
          </a:p>
          <a:p>
            <a:pPr lvl="0" indent="0" marL="0">
              <a:buNone/>
            </a:pPr>
          </a:p>
          <a:p>
            <a:pPr lvl="0"/>
            <a:r>
              <a:rPr/>
              <a:t>Community input is critical</a:t>
            </a:r>
          </a:p>
          <a:p>
            <a:pPr lvl="0" indent="0" marL="0">
              <a:buNone/>
            </a:pPr>
          </a:p>
          <a:p>
            <a:pPr lvl="0"/>
            <a:r>
              <a:rPr/>
              <a:t>Open to feedback and iteration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Make it actionable</a:t>
            </a:r>
          </a:p>
          <a:p>
            <a:pPr lvl="0" indent="0" marL="0">
              <a:buNone/>
            </a:pPr>
          </a:p>
          <a:p>
            <a:pPr lvl="0"/>
            <a:r>
              <a:rPr/>
              <a:t>Lower barriers to trying</a:t>
            </a:r>
          </a:p>
          <a:p>
            <a:pPr lvl="0" indent="0" marL="0">
              <a:buNone/>
            </a:pPr>
          </a:p>
          <a:p>
            <a:pPr lvl="0"/>
            <a:r>
              <a:rPr/>
              <a:t>Invite collaboration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Reference slide for questions</a:t>
            </a:r>
          </a:p>
          <a:p>
            <a:pPr lvl="0" indent="0" marL="0">
              <a:buNone/>
            </a:pPr>
          </a:p>
          <a:p>
            <a:pPr lvl="0"/>
            <a:r>
              <a:rPr/>
              <a:t>Shows how we map concepts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Detailed specs for implementers</a:t>
            </a:r>
          </a:p>
          <a:p>
            <a:pPr lvl="0" indent="0" marL="0">
              <a:buNone/>
            </a:pPr>
          </a:p>
          <a:p>
            <a:pPr lvl="0"/>
            <a:r>
              <a:rPr/>
              <a:t>Balance required vs. optional</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Real world is messy</a:t>
            </a:r>
          </a:p>
          <a:p>
            <a:pPr lvl="0" indent="0" marL="0">
              <a:buNone/>
            </a:pPr>
          </a:p>
          <a:p>
            <a:pPr lvl="0"/>
            <a:r>
              <a:rPr/>
              <a:t>Standards should accommodate</a:t>
            </a:r>
          </a:p>
          <a:p>
            <a:pPr lvl="0" indent="0" marL="0">
              <a:buNone/>
            </a:pPr>
          </a:p>
          <a:p>
            <a:pPr lvl="0"/>
            <a:r>
              <a:rPr/>
              <a:t>Document decisions clearly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Standardizing Exposure-Response Data for Modeling and Simulation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Using CDISC Principles and {admiral}</a:t>
            </a:r>
            <a:br/>
            <a:br/>
            <a:r>
              <a:rPr/>
              <a:t>Jeff Dickinson</a:t>
            </a:r>
          </a:p>
        </p:txBody>
      </p:sp>
      <p:sp>
        <p:nvSpPr>
          <p:cNvPr id="4" name="Date Placeholder 3"/>
          <p:cNvSpPr>
            <a:spLocks noGrp="1"/>
          </p:cNvSpPr>
          <p:nvPr>
            <p:ph idx="10" sz="half" type="dt"/>
          </p:nvPr>
        </p:nvSpPr>
        <p:spPr/>
        <p:txBody>
          <a:bodyPr/>
          <a:lstStyle/>
          <a:p>
            <a:pPr lvl="0" indent="0" marL="0">
              <a:buNone/>
            </a:pPr>
            <a:r>
              <a:rPr/>
              <a:t>2026-01-27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sz="half"/>
          </p:nvPr>
        </p:nvSpPr>
        <p:spPr/>
        <p:txBody>
          <a:bodyPr/>
          <a:lstStyle/>
          <a:p>
            <a:pPr lvl="0" indent="0" marL="0">
              <a:buNone/>
            </a:pPr>
            <a:r>
              <a:rPr b="1"/>
              <a:t>The Challenge</a:t>
            </a:r>
          </a:p>
          <a:p>
            <a:pPr lvl="0"/>
            <a:r>
              <a:rPr/>
              <a:t>ER modeling critical for drug development</a:t>
            </a:r>
          </a:p>
          <a:p>
            <a:pPr lvl="0"/>
            <a:r>
              <a:rPr/>
              <a:t>Datasets lack standardization</a:t>
            </a:r>
          </a:p>
          <a:p>
            <a:pPr lvl="0"/>
            <a:r>
              <a:rPr/>
              <a:t>CDISC SDTM-PK exists, but no ER equivalent</a:t>
            </a:r>
          </a:p>
          <a:p>
            <a:pPr lvl="0"/>
            <a:r>
              <a:rPr/>
              <a:t>Inconsistent structures hinder reproducibility</a:t>
            </a:r>
          </a:p>
        </p:txBody>
      </p:sp>
      <p:sp>
        <p:nvSpPr>
          <p:cNvPr id="4" name="Content Placeholder 3"/>
          <p:cNvSpPr>
            <a:spLocks noGrp="1"/>
          </p:cNvSpPr>
          <p:nvPr>
            <p:ph idx="2" sz="half"/>
          </p:nvPr>
        </p:nvSpPr>
        <p:spPr/>
        <p:txBody>
          <a:bodyPr/>
          <a:lstStyle/>
          <a:p>
            <a:pPr lvl="0" indent="0" marL="0">
              <a:buNone/>
            </a:pPr>
            <a:r>
              <a:rPr b="1"/>
              <a:t>Our Approach</a:t>
            </a:r>
          </a:p>
          <a:p>
            <a:pPr lvl="0"/>
            <a:r>
              <a:rPr/>
              <a:t>Extend CDISC principles to ER data</a:t>
            </a:r>
          </a:p>
          <a:p>
            <a:pPr lvl="0"/>
            <a:r>
              <a:rPr/>
              <a:t>Three key domains:</a:t>
            </a:r>
          </a:p>
          <a:p>
            <a:pPr lvl="1"/>
            <a:r>
              <a:rPr/>
              <a:t>Exposure-Efficacy (EE)</a:t>
            </a:r>
          </a:p>
          <a:p>
            <a:pPr lvl="1"/>
            <a:r>
              <a:rPr/>
              <a:t>Exposure-Safety (ES)</a:t>
            </a:r>
          </a:p>
          <a:p>
            <a:pPr lvl="1"/>
            <a:r>
              <a:rPr/>
              <a:t>Tumor Response</a:t>
            </a:r>
          </a:p>
          <a:p>
            <a:pPr lvl="0"/>
            <a:r>
              <a:rPr/>
              <a:t>Demonstrate with {admiral}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ER Modeling Landscape</a:t>
            </a:r>
          </a:p>
        </p:txBody>
      </p:sp>
      <p:sp>
        <p:nvSpPr>
          <p:cNvPr id="3" name="Content Placeholder 2"/>
          <p:cNvSpPr>
            <a:spLocks noGrp="1"/>
          </p:cNvSpPr>
          <p:nvPr>
            <p:ph idx="1"/>
          </p:nvPr>
        </p:nvSpPr>
        <p:spPr/>
        <p:txBody>
          <a:bodyPr/>
          <a:lstStyle/>
          <a:p>
            <a:pPr lvl="0" indent="0" marL="0">
              <a:buNone/>
            </a:pPr>
            <a:r>
              <a:rPr b="1"/>
              <a:t>What is Exposure-Response Analysis?</a:t>
            </a:r>
          </a:p>
          <a:p>
            <a:pPr lvl="0"/>
            <a:r>
              <a:rPr/>
              <a:t>Quantifies relationship between drug exposure (PK) and outcomes</a:t>
            </a:r>
          </a:p>
          <a:p>
            <a:pPr lvl="0"/>
            <a:r>
              <a:rPr/>
              <a:t>Key questions:</a:t>
            </a:r>
          </a:p>
          <a:p>
            <a:pPr lvl="1"/>
            <a:r>
              <a:rPr/>
              <a:t>What exposure achieves target efficacy?</a:t>
            </a:r>
          </a:p>
          <a:p>
            <a:pPr lvl="1"/>
            <a:r>
              <a:rPr/>
              <a:t>What exposure level increases toxicity risk?</a:t>
            </a:r>
          </a:p>
          <a:p>
            <a:pPr lvl="1"/>
            <a:r>
              <a:rPr/>
              <a:t>How do we optimize dosing for subpopulations?</a:t>
            </a:r>
          </a:p>
          <a:p>
            <a:pPr lvl="0" indent="0" marL="0">
              <a:buNone/>
            </a:pPr>
            <a:r>
              <a:rPr b="1"/>
              <a:t>Current State</a:t>
            </a:r>
          </a:p>
          <a:p>
            <a:pPr lvl="0"/>
            <a:r>
              <a:rPr/>
              <a:t>Each analysis starts from scratch</a:t>
            </a:r>
          </a:p>
          <a:p>
            <a:pPr lvl="0"/>
            <a:r>
              <a:rPr/>
              <a:t>Variable naming inconsistent</a:t>
            </a:r>
          </a:p>
          <a:p>
            <a:pPr lvl="0"/>
            <a:r>
              <a:rPr/>
              <a:t>Difficult to share methodologies</a:t>
            </a:r>
          </a:p>
          <a:p>
            <a:pPr lvl="0"/>
            <a:r>
              <a:rPr/>
              <a:t>QC challenges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Standards Matter</a:t>
            </a:r>
          </a:p>
        </p:txBody>
      </p:sp>
      <p:sp>
        <p:nvSpPr>
          <p:cNvPr id="3" name="Content Placeholder 2"/>
          <p:cNvSpPr>
            <a:spLocks noGrp="1"/>
          </p:cNvSpPr>
          <p:nvPr>
            <p:ph idx="1"/>
          </p:nvPr>
        </p:nvSpPr>
        <p:spPr/>
        <p:txBody>
          <a:bodyPr/>
          <a:lstStyle/>
          <a:p>
            <a:pPr lvl="0"/>
            <a:r>
              <a:rPr b="1"/>
              <a:t>Consistency</a:t>
            </a:r>
            <a:r>
              <a:rPr/>
              <a:t>: Same structure across studies and organizations</a:t>
            </a:r>
          </a:p>
          <a:p>
            <a:pPr lvl="0"/>
            <a:r>
              <a:rPr b="1"/>
              <a:t>Traceability</a:t>
            </a:r>
            <a:r>
              <a:rPr/>
              <a:t>: Clear lineage from raw data → analysis</a:t>
            </a:r>
          </a:p>
          <a:p>
            <a:pPr lvl="0"/>
            <a:r>
              <a:rPr b="1"/>
              <a:t>Reproducibility</a:t>
            </a:r>
            <a:r>
              <a:rPr/>
              <a:t>: Others can verify and extend your work</a:t>
            </a:r>
          </a:p>
          <a:p>
            <a:pPr lvl="0"/>
            <a:r>
              <a:rPr b="1"/>
              <a:t>Efficiency</a:t>
            </a:r>
            <a:r>
              <a:rPr/>
              <a:t>: Reusable code and workflows</a:t>
            </a:r>
          </a:p>
          <a:p>
            <a:pPr lvl="0"/>
            <a:r>
              <a:rPr b="1"/>
              <a:t>Regulatory clarity</a:t>
            </a:r>
            <a:r>
              <a:rPr/>
              <a:t>: Easier to document and defend analyses</a:t>
            </a:r>
          </a:p>
          <a:p>
            <a:pPr lvl="0" indent="0" marL="1270000">
              <a:buNone/>
            </a:pPr>
            <a:r>
              <a:rPr sz="2000"/>
              <a:t>“The beauty of standards is that we can build tooling that works across contexts”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SDTM-PK: Our Foundation</a:t>
            </a:r>
          </a:p>
        </p:txBody>
      </p:sp>
      <p:sp>
        <p:nvSpPr>
          <p:cNvPr id="3" name="Content Placeholder 2"/>
          <p:cNvSpPr>
            <a:spLocks noGrp="1"/>
          </p:cNvSpPr>
          <p:nvPr>
            <p:ph idx="1" sz="half"/>
          </p:nvPr>
        </p:nvSpPr>
        <p:spPr/>
        <p:txBody>
          <a:bodyPr/>
          <a:lstStyle/>
          <a:p>
            <a:pPr lvl="0" indent="0" marL="0">
              <a:buNone/>
            </a:pPr>
            <a:r>
              <a:rPr b="1"/>
              <a:t>Key Principles from SDTM-PK</a:t>
            </a:r>
          </a:p>
          <a:p>
            <a:pPr lvl="0"/>
            <a:r>
              <a:rPr/>
              <a:t>Relative time variables (</a:t>
            </a:r>
            <a:r>
              <a:rPr i="1"/>
              <a:t>TPT,</a:t>
            </a:r>
            <a:r>
              <a:rPr/>
              <a:t> ELTM)</a:t>
            </a:r>
          </a:p>
          <a:p>
            <a:pPr lvl="0"/>
            <a:r>
              <a:rPr/>
              <a:t>Numeric analysis values (PCSTRESN)</a:t>
            </a:r>
          </a:p>
          <a:p>
            <a:pPr lvl="0"/>
            <a:r>
              <a:rPr/>
              <a:t>Analysis flags (*FL variables)</a:t>
            </a:r>
          </a:p>
          <a:p>
            <a:pPr lvl="0"/>
            <a:r>
              <a:rPr/>
              <a:t>Traceability (*DTC, –SEQ)</a:t>
            </a:r>
          </a:p>
          <a:p>
            <a:pPr lvl="0"/>
            <a:r>
              <a:rPr/>
              <a:t>Standardized parameter codes</a:t>
            </a:r>
          </a:p>
        </p:txBody>
      </p:sp>
      <p:sp>
        <p:nvSpPr>
          <p:cNvPr id="4" name="Content Placeholder 3"/>
          <p:cNvSpPr>
            <a:spLocks noGrp="1"/>
          </p:cNvSpPr>
          <p:nvPr>
            <p:ph idx="2" sz="half"/>
          </p:nvPr>
        </p:nvSpPr>
        <p:spPr/>
        <p:txBody>
          <a:bodyPr/>
          <a:lstStyle/>
          <a:p>
            <a:pPr lvl="0" indent="0" marL="0">
              <a:buNone/>
            </a:pPr>
            <a:r>
              <a:rPr b="1"/>
              <a:t>What We Can Leverage</a:t>
            </a:r>
          </a:p>
          <a:p>
            <a:pPr lvl="0"/>
            <a:r>
              <a:rPr/>
              <a:t>Time calculation patterns</a:t>
            </a:r>
          </a:p>
          <a:p>
            <a:pPr lvl="0"/>
            <a:r>
              <a:rPr/>
              <a:t>Covariate structures</a:t>
            </a:r>
          </a:p>
          <a:p>
            <a:pPr lvl="0"/>
            <a:r>
              <a:rPr/>
              <a:t>Metadata approaches</a:t>
            </a:r>
          </a:p>
          <a:p>
            <a:pPr lvl="0"/>
            <a:r>
              <a:rPr/>
              <a:t>Validation frameworks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The Gap</a:t>
            </a:r>
            <a:r>
              <a:rPr/>
              <a:t>: SDTM-PK focuses on PK measurements, not PK-outcome relationships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ER Domains: A Comparison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32000"/>
                <a:gridCol w="2146300"/>
                <a:gridCol w="2032000"/>
                <a:gridCol w="2032000"/>
              </a:tblGrid>
              <a:tr h="0">
                <a:tc>
                  <a:txBody>
                    <a:bodyPr/>
                    <a:lstStyle/>
                    <a:p>
                      <a:pPr lvl="0" indent="0" marL="0">
                        <a:buNone/>
                      </a:pPr>
                      <a:r>
                        <a:rPr/>
                        <a:t>Aspect</a:t>
                      </a:r>
                    </a:p>
                  </a:txBody>
                  <a:tcPr/>
                </a:tc>
                <a:tc>
                  <a:txBody>
                    <a:bodyPr/>
                    <a:lstStyle/>
                    <a:p>
                      <a:pPr lvl="0" indent="0" marL="0">
                        <a:buNone/>
                      </a:pPr>
                      <a:r>
                        <a:rPr/>
                        <a:t>Exposure-Efficacy</a:t>
                      </a:r>
                    </a:p>
                  </a:txBody>
                  <a:tcPr/>
                </a:tc>
                <a:tc>
                  <a:txBody>
                    <a:bodyPr/>
                    <a:lstStyle/>
                    <a:p>
                      <a:pPr lvl="0" indent="0" marL="0">
                        <a:buNone/>
                      </a:pPr>
                      <a:r>
                        <a:rPr/>
                        <a:t>Exposure-Safety</a:t>
                      </a:r>
                    </a:p>
                  </a:txBody>
                  <a:tcPr/>
                </a:tc>
                <a:tc>
                  <a:txBody>
                    <a:bodyPr/>
                    <a:lstStyle/>
                    <a:p>
                      <a:pPr lvl="0" indent="0" marL="0">
                        <a:buNone/>
                      </a:pPr>
                      <a:r>
                        <a:rPr/>
                        <a:t>Tumor Response</a:t>
                      </a:r>
                    </a:p>
                  </a:txBody>
                  <a:tcPr/>
                </a:tc>
              </a:tr>
              <a:tr h="0">
                <a:tc>
                  <a:txBody>
                    <a:bodyPr/>
                    <a:lstStyle/>
                    <a:p>
                      <a:pPr lvl="0" indent="0" marL="0">
                        <a:buNone/>
                      </a:pPr>
                      <a:r>
                        <a:rPr b="1"/>
                        <a:t>Primary Outcome</a:t>
                      </a:r>
                    </a:p>
                  </a:txBody>
                </a:tc>
                <a:tc>
                  <a:txBody>
                    <a:bodyPr/>
                    <a:lstStyle/>
                    <a:p>
                      <a:pPr lvl="0" indent="0" marL="0">
                        <a:buNone/>
                      </a:pPr>
                      <a:r>
                        <a:rPr/>
                        <a:t>Time-to-event (OS, PFS)</a:t>
                      </a:r>
                    </a:p>
                  </a:txBody>
                </a:tc>
                <a:tc>
                  <a:txBody>
                    <a:bodyPr/>
                    <a:lstStyle/>
                    <a:p>
                      <a:pPr lvl="0" indent="0" marL="0">
                        <a:buNone/>
                      </a:pPr>
                      <a:r>
                        <a:rPr/>
                        <a:t>Event frequency/rates</a:t>
                      </a:r>
                    </a:p>
                  </a:txBody>
                </a:tc>
                <a:tc>
                  <a:txBody>
                    <a:bodyPr/>
                    <a:lstStyle/>
                    <a:p>
                      <a:pPr lvl="0" indent="0" marL="0">
                        <a:buNone/>
                      </a:pPr>
                      <a:r>
                        <a:rPr/>
                        <a:t>Tumor size over time</a:t>
                      </a:r>
                    </a:p>
                  </a:txBody>
                </a:tc>
              </a:tr>
              <a:tr h="0">
                <a:tc>
                  <a:txBody>
                    <a:bodyPr/>
                    <a:lstStyle/>
                    <a:p>
                      <a:pPr lvl="0" indent="0" marL="0">
                        <a:buNone/>
                      </a:pPr>
                      <a:r>
                        <a:rPr b="1"/>
                        <a:t>Data Structure</a:t>
                      </a:r>
                    </a:p>
                  </a:txBody>
                </a:tc>
                <a:tc>
                  <a:txBody>
                    <a:bodyPr/>
                    <a:lstStyle/>
                    <a:p>
                      <a:pPr lvl="0" indent="0" marL="0">
                        <a:buNone/>
                      </a:pPr>
                      <a:r>
                        <a:rPr/>
                        <a:t>One record per subject-event</a:t>
                      </a:r>
                    </a:p>
                  </a:txBody>
                </a:tc>
                <a:tc>
                  <a:txBody>
                    <a:bodyPr/>
                    <a:lstStyle/>
                    <a:p>
                      <a:pPr lvl="0" indent="0" marL="0">
                        <a:buNone/>
                      </a:pPr>
                      <a:r>
                        <a:rPr/>
                        <a:t>Multiple levels (subject/event)</a:t>
                      </a:r>
                    </a:p>
                  </a:txBody>
                </a:tc>
                <a:tc>
                  <a:txBody>
                    <a:bodyPr/>
                    <a:lstStyle/>
                    <a:p>
                      <a:pPr lvl="0" indent="0" marL="0">
                        <a:buNone/>
                      </a:pPr>
                      <a:r>
                        <a:rPr/>
                        <a:t>Longitudinal repeated measures</a:t>
                      </a:r>
                    </a:p>
                  </a:txBody>
                </a:tc>
              </a:tr>
              <a:tr h="0">
                <a:tc>
                  <a:txBody>
                    <a:bodyPr/>
                    <a:lstStyle/>
                    <a:p>
                      <a:pPr lvl="0" indent="0" marL="0">
                        <a:buNone/>
                      </a:pPr>
                      <a:r>
                        <a:rPr b="1"/>
                        <a:t>Key Metrics</a:t>
                      </a:r>
                    </a:p>
                  </a:txBody>
                </a:tc>
                <a:tc>
                  <a:txBody>
                    <a:bodyPr/>
                    <a:lstStyle/>
                    <a:p>
                      <a:pPr lvl="0" indent="0" marL="0">
                        <a:buNone/>
                      </a:pPr>
                      <a:r>
                        <a:rPr/>
                        <a:t>Survival time, censoring</a:t>
                      </a:r>
                    </a:p>
                  </a:txBody>
                </a:tc>
                <a:tc>
                  <a:txBody>
                    <a:bodyPr/>
                    <a:lstStyle/>
                    <a:p>
                      <a:pPr lvl="0" indent="0" marL="0">
                        <a:buNone/>
                      </a:pPr>
                      <a:r>
                        <a:rPr/>
                        <a:t>AE counts, rates, grades</a:t>
                      </a:r>
                    </a:p>
                  </a:txBody>
                </a:tc>
                <a:tc>
                  <a:txBody>
                    <a:bodyPr/>
                    <a:lstStyle/>
                    <a:p>
                      <a:pPr lvl="0" indent="0" marL="0">
                        <a:buNone/>
                      </a:pPr>
                      <a:r>
                        <a:rPr/>
                        <a:t>Percent change, RECIST</a:t>
                      </a:r>
                    </a:p>
                  </a:txBody>
                </a:tc>
              </a:tr>
              <a:tr h="0">
                <a:tc>
                  <a:txBody>
                    <a:bodyPr/>
                    <a:lstStyle/>
                    <a:p>
                      <a:pPr lvl="0" indent="0" marL="0">
                        <a:buNone/>
                      </a:pPr>
                      <a:r>
                        <a:rPr b="1"/>
                        <a:t>Analysis Type</a:t>
                      </a:r>
                    </a:p>
                  </a:txBody>
                </a:tc>
                <a:tc>
                  <a:txBody>
                    <a:bodyPr/>
                    <a:lstStyle/>
                    <a:p>
                      <a:pPr lvl="0" indent="0" marL="0">
                        <a:buNone/>
                      </a:pPr>
                      <a:r>
                        <a:rPr/>
                        <a:t>Cox regression, K-M curves</a:t>
                      </a:r>
                    </a:p>
                  </a:txBody>
                </a:tc>
                <a:tc>
                  <a:txBody>
                    <a:bodyPr/>
                    <a:lstStyle/>
                    <a:p>
                      <a:pPr lvl="0" indent="0" marL="0">
                        <a:buNone/>
                      </a:pPr>
                      <a:r>
                        <a:rPr/>
                        <a:t>Poisson/negative binomial</a:t>
                      </a:r>
                    </a:p>
                  </a:txBody>
                </a:tc>
                <a:tc>
                  <a:txBody>
                    <a:bodyPr/>
                    <a:lstStyle/>
                    <a:p>
                      <a:pPr lvl="0" indent="0" marL="0">
                        <a:buNone/>
                      </a:pPr>
                      <a:r>
                        <a:rPr/>
                        <a:t>Mixed models, waterfall plots</a:t>
                      </a:r>
                    </a:p>
                  </a:txBody>
                </a:tc>
              </a:tr>
              <a:tr h="0">
                <a:tc>
                  <a:txBody>
                    <a:bodyPr/>
                    <a:lstStyle/>
                    <a:p>
                      <a:pPr lvl="0" indent="0" marL="0">
                        <a:buNone/>
                      </a:pPr>
                      <a:r>
                        <a:rPr b="1"/>
                        <a:t>Common Challenges</a:t>
                      </a:r>
                    </a:p>
                  </a:txBody>
                </a:tc>
                <a:tc>
                  <a:txBody>
                    <a:bodyPr/>
                    <a:lstStyle/>
                    <a:p>
                      <a:pPr lvl="0" indent="0" marL="0">
                        <a:buNone/>
                      </a:pPr>
                      <a:r>
                        <a:rPr/>
                        <a:t>Censoring handling</a:t>
                      </a:r>
                    </a:p>
                  </a:txBody>
                </a:tc>
                <a:tc>
                  <a:txBody>
                    <a:bodyPr/>
                    <a:lstStyle/>
                    <a:p>
                      <a:pPr lvl="0" indent="0" marL="0">
                        <a:buNone/>
                      </a:pPr>
                      <a:r>
                        <a:rPr/>
                        <a:t>Time-varying exposure</a:t>
                      </a:r>
                    </a:p>
                  </a:txBody>
                </a:tc>
                <a:tc>
                  <a:txBody>
                    <a:bodyPr/>
                    <a:lstStyle/>
                    <a:p>
                      <a:pPr lvl="0" indent="0" marL="0">
                        <a:buNone/>
                      </a:pPr>
                      <a:r>
                        <a:rPr/>
                        <a:t>Baseline normalization</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Domain 1: Exposure-Efficacy</a:t>
            </a:r>
          </a:p>
        </p:txBody>
      </p:sp>
      <p:sp>
        <p:nvSpPr>
          <p:cNvPr id="3" name="Content Placeholder 2"/>
          <p:cNvSpPr>
            <a:spLocks noGrp="1"/>
          </p:cNvSpPr>
          <p:nvPr>
            <p:ph idx="1"/>
          </p:nvPr>
        </p:nvSpPr>
        <p:spPr/>
        <p:txBody>
          <a:bodyPr/>
          <a:lstStyle/>
          <a:p>
            <a:pPr lvl="0" indent="0" marL="0">
              <a:buNone/>
            </a:pPr>
            <a:r>
              <a:rPr b="1"/>
              <a:t>Use Case</a:t>
            </a:r>
            <a:r>
              <a:rPr/>
              <a:t>: Progression-Free Survival by AUC Quartiles</a:t>
            </a:r>
          </a:p>
          <a:p>
            <a:pPr lvl="0" indent="0" marL="0">
              <a:buNone/>
            </a:pPr>
            <a:r>
              <a:rPr b="1"/>
              <a:t>Key Dataset Features</a:t>
            </a:r>
          </a:p>
          <a:p>
            <a:pPr lvl="0"/>
            <a:r>
              <a:rPr/>
              <a:t>One record per subject-parameter</a:t>
            </a:r>
          </a:p>
          <a:p>
            <a:pPr lvl="0"/>
            <a:r>
              <a:rPr/>
              <a:t>AVAL = time from treatment start (days)</a:t>
            </a:r>
          </a:p>
          <a:p>
            <a:pPr lvl="0"/>
            <a:r>
              <a:rPr/>
              <a:t>CNSR = censoring indicator (1=censored, 0=event)</a:t>
            </a:r>
          </a:p>
          <a:p>
            <a:pPr lvl="0"/>
            <a:r>
              <a:rPr/>
              <a:t>Exposure available as continuous and categorical</a:t>
            </a:r>
          </a:p>
          <a:p>
            <a:pPr lvl="0" indent="0">
              <a:buNone/>
            </a:pPr>
            <a:r>
              <a:rPr>
                <a:solidFill>
                  <a:srgbClr val="003B4F"/>
                </a:solidFill>
                <a:latin typeface="Courier"/>
              </a:rPr>
              <a:t>adee </a:t>
            </a:r>
            <a:r>
              <a:rPr>
                <a:solidFill>
                  <a:srgbClr val="5E5E5E"/>
                </a:solidFill>
                <a:latin typeface="Courier"/>
              </a:rPr>
              <a:t>%&gt;%</a:t>
            </a:r>
            <a:r>
              <a:rPr>
                <a:solidFill>
                  <a:srgbClr val="003B4F"/>
                </a:solidFill>
                <a:latin typeface="Courier"/>
              </a:rPr>
              <a:t> </a:t>
            </a:r>
            <a:br/>
            <a:r>
              <a:rPr>
                <a:solidFill>
                  <a:srgbClr val="003B4F"/>
                </a:solidFill>
                <a:latin typeface="Courier"/>
              </a:rPr>
              <a:t>  </a:t>
            </a:r>
            <a:r>
              <a:rPr>
                <a:solidFill>
                  <a:srgbClr val="4758AB"/>
                </a:solidFill>
                <a:latin typeface="Courier"/>
              </a:rPr>
              <a:t>select</a:t>
            </a:r>
            <a:r>
              <a:rPr>
                <a:solidFill>
                  <a:srgbClr val="003B4F"/>
                </a:solidFill>
                <a:latin typeface="Courier"/>
              </a:rPr>
              <a:t>(USUBJID, AVAL, CNSR, AUC0_24, AUC_TERTILE) </a:t>
            </a:r>
            <a:r>
              <a:rPr>
                <a:solidFill>
                  <a:srgbClr val="5E5E5E"/>
                </a:solidFill>
                <a:latin typeface="Courier"/>
              </a:rPr>
              <a:t>%&gt;%</a:t>
            </a:r>
            <a:br/>
            <a:r>
              <a:rPr>
                <a:solidFill>
                  <a:srgbClr val="003B4F"/>
                </a:solidFill>
                <a:latin typeface="Courier"/>
              </a:rPr>
              <a:t>  </a:t>
            </a:r>
            <a:r>
              <a:rPr>
                <a:solidFill>
                  <a:srgbClr val="4758AB"/>
                </a:solidFill>
                <a:latin typeface="Courier"/>
              </a:rPr>
              <a:t>head</a:t>
            </a:r>
            <a:r>
              <a:rPr>
                <a:solidFill>
                  <a:srgbClr val="003B4F"/>
                </a:solidFill>
                <a:latin typeface="Courier"/>
              </a:rPr>
              <a:t>(</a:t>
            </a:r>
            <a:r>
              <a:rPr>
                <a:solidFill>
                  <a:srgbClr val="AD0000"/>
                </a:solidFill>
                <a:latin typeface="Courier"/>
              </a:rPr>
              <a:t>3</a:t>
            </a:r>
            <a:r>
              <a:rPr>
                <a:solidFill>
                  <a:srgbClr val="003B4F"/>
                </a:solidFill>
                <a:latin typeface="Courie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EE: Code Example</a:t>
            </a:r>
          </a:p>
        </p:txBody>
      </p:sp>
      <p:sp>
        <p:nvSpPr>
          <p:cNvPr id="3" name="Content Placeholder 2"/>
          <p:cNvSpPr>
            <a:spLocks noGrp="1"/>
          </p:cNvSpPr>
          <p:nvPr>
            <p:ph idx="1"/>
          </p:nvPr>
        </p:nvSpPr>
        <p:spPr/>
        <p:txBody>
          <a:bodyPr/>
          <a:lstStyle/>
          <a:p>
            <a:pPr lvl="0" indent="0">
              <a:buNone/>
            </a:pPr>
            <a:r>
              <a:rPr>
                <a:solidFill>
                  <a:srgbClr val="5E5E5E"/>
                </a:solidFill>
                <a:latin typeface="Courier"/>
              </a:rPr>
              <a:t># Derive time to event</a:t>
            </a:r>
            <a:br/>
            <a:r>
              <a:rPr>
                <a:solidFill>
                  <a:srgbClr val="003B4F"/>
                </a:solidFill>
                <a:latin typeface="Courier"/>
              </a:rPr>
              <a:t>adtte &lt;- adtte_source </a:t>
            </a:r>
            <a:r>
              <a:rPr>
                <a:solidFill>
                  <a:srgbClr val="5E5E5E"/>
                </a:solidFill>
                <a:latin typeface="Courier"/>
              </a:rPr>
              <a:t>%&gt;%</a:t>
            </a:r>
            <a:br/>
            <a:r>
              <a:rPr>
                <a:solidFill>
                  <a:srgbClr val="003B4F"/>
                </a:solidFill>
                <a:latin typeface="Courier"/>
              </a:rPr>
              <a:t>  </a:t>
            </a:r>
            <a:r>
              <a:rPr>
                <a:solidFill>
                  <a:srgbClr val="4758AB"/>
                </a:solidFill>
                <a:latin typeface="Courier"/>
              </a:rPr>
              <a:t>derive_vars_merged</a:t>
            </a:r>
            <a:r>
              <a:rPr>
                <a:solidFill>
                  <a:srgbClr val="003B4F"/>
                </a:solidFill>
                <a:latin typeface="Courier"/>
              </a:rPr>
              <a:t>(</a:t>
            </a:r>
            <a:br/>
            <a:r>
              <a:rPr>
                <a:solidFill>
                  <a:srgbClr val="003B4F"/>
                </a:solidFill>
                <a:latin typeface="Courier"/>
              </a:rPr>
              <a:t>    </a:t>
            </a:r>
            <a:r>
              <a:rPr>
                <a:solidFill>
                  <a:srgbClr val="657422"/>
                </a:solidFill>
                <a:latin typeface="Courier"/>
              </a:rPr>
              <a:t>dataset_add =</a:t>
            </a:r>
            <a:r>
              <a:rPr>
                <a:solidFill>
                  <a:srgbClr val="003B4F"/>
                </a:solidFill>
                <a:latin typeface="Courier"/>
              </a:rPr>
              <a:t> adsl,</a:t>
            </a:r>
            <a:br/>
            <a:r>
              <a:rPr>
                <a:solidFill>
                  <a:srgbClr val="003B4F"/>
                </a:solidFill>
                <a:latin typeface="Courier"/>
              </a:rPr>
              <a:t>    </a:t>
            </a:r>
            <a:r>
              <a:rPr>
                <a:solidFill>
                  <a:srgbClr val="657422"/>
                </a:solidFill>
                <a:latin typeface="Courier"/>
              </a:rPr>
              <a:t>by_vars =</a:t>
            </a:r>
            <a:r>
              <a:rPr>
                <a:solidFill>
                  <a:srgbClr val="003B4F"/>
                </a:solidFill>
                <a:latin typeface="Courier"/>
              </a:rPr>
              <a:t> </a:t>
            </a:r>
            <a:r>
              <a:rPr>
                <a:solidFill>
                  <a:srgbClr val="4758AB"/>
                </a:solidFill>
                <a:latin typeface="Courier"/>
              </a:rPr>
              <a:t>exprs</a:t>
            </a:r>
            <a:r>
              <a:rPr>
                <a:solidFill>
                  <a:srgbClr val="003B4F"/>
                </a:solidFill>
                <a:latin typeface="Courier"/>
              </a:rPr>
              <a:t>(USUBJID)</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5E5E5E"/>
                </a:solidFill>
                <a:latin typeface="Courier"/>
              </a:rPr>
              <a:t># Analysis value = days from treatment start</a:t>
            </a:r>
            <a:br/>
            <a:r>
              <a:rPr>
                <a:solidFill>
                  <a:srgbClr val="003B4F"/>
                </a:solidFill>
                <a:latin typeface="Courier"/>
              </a:rPr>
              <a:t>    </a:t>
            </a:r>
            <a:r>
              <a:rPr>
                <a:solidFill>
                  <a:srgbClr val="657422"/>
                </a:solidFill>
                <a:latin typeface="Courier"/>
              </a:rPr>
              <a:t>AVAL =</a:t>
            </a:r>
            <a:r>
              <a:rPr>
                <a:solidFill>
                  <a:srgbClr val="003B4F"/>
                </a:solidFill>
                <a:latin typeface="Courier"/>
              </a:rPr>
              <a:t> </a:t>
            </a:r>
            <a:r>
              <a:rPr>
                <a:solidFill>
                  <a:srgbClr val="4758AB"/>
                </a:solidFill>
                <a:latin typeface="Courier"/>
              </a:rPr>
              <a:t>as.numeric</a:t>
            </a:r>
            <a:r>
              <a:rPr>
                <a:solidFill>
                  <a:srgbClr val="003B4F"/>
                </a:solidFill>
                <a:latin typeface="Courier"/>
              </a:rPr>
              <a:t>(ADT </a:t>
            </a:r>
            <a:r>
              <a:rPr>
                <a:solidFill>
                  <a:srgbClr val="5E5E5E"/>
                </a:solidFill>
                <a:latin typeface="Courier"/>
              </a:rPr>
              <a:t>-</a:t>
            </a:r>
            <a:r>
              <a:rPr>
                <a:solidFill>
                  <a:srgbClr val="003B4F"/>
                </a:solidFill>
                <a:latin typeface="Courier"/>
              </a:rPr>
              <a:t> TRTSDT),</a:t>
            </a:r>
            <a:br/>
            <a:r>
              <a:rPr>
                <a:solidFill>
                  <a:srgbClr val="003B4F"/>
                </a:solidFill>
                <a:latin typeface="Courier"/>
              </a:rPr>
              <a:t>    </a:t>
            </a:r>
            <a:r>
              <a:rPr>
                <a:solidFill>
                  <a:srgbClr val="657422"/>
                </a:solidFill>
                <a:latin typeface="Courier"/>
              </a:rPr>
              <a:t>AVALU =</a:t>
            </a:r>
            <a:r>
              <a:rPr>
                <a:solidFill>
                  <a:srgbClr val="003B4F"/>
                </a:solidFill>
                <a:latin typeface="Courier"/>
              </a:rPr>
              <a:t> </a:t>
            </a:r>
            <a:r>
              <a:rPr>
                <a:solidFill>
                  <a:srgbClr val="20794D"/>
                </a:solidFill>
                <a:latin typeface="Courier"/>
              </a:rPr>
              <a:t>"DAYS"</a:t>
            </a:r>
            <a:r>
              <a:rPr>
                <a:solidFill>
                  <a:srgbClr val="003B4F"/>
                </a:solidFill>
                <a:latin typeface="Courier"/>
              </a:rPr>
              <a:t>,</a:t>
            </a:r>
            <a:br/>
            <a:r>
              <a:rPr>
                <a:solidFill>
                  <a:srgbClr val="003B4F"/>
                </a:solidFill>
                <a:latin typeface="Courier"/>
              </a:rPr>
              <a:t>    </a:t>
            </a:r>
            <a:r>
              <a:rPr>
                <a:solidFill>
                  <a:srgbClr val="5E5E5E"/>
                </a:solidFill>
                <a:latin typeface="Courier"/>
              </a:rPr>
              <a:t># Event indicator (inverse of CNSR for modeling)</a:t>
            </a:r>
            <a:br/>
            <a:r>
              <a:rPr>
                <a:solidFill>
                  <a:srgbClr val="003B4F"/>
                </a:solidFill>
                <a:latin typeface="Courier"/>
              </a:rPr>
              <a:t>    </a:t>
            </a:r>
            <a:r>
              <a:rPr>
                <a:solidFill>
                  <a:srgbClr val="657422"/>
                </a:solidFill>
                <a:latin typeface="Courier"/>
              </a:rPr>
              <a:t>EVENT =</a:t>
            </a:r>
            <a:r>
              <a:rPr>
                <a:solidFill>
                  <a:srgbClr val="003B4F"/>
                </a:solidFill>
                <a:latin typeface="Courier"/>
              </a:rPr>
              <a:t> </a:t>
            </a:r>
            <a:r>
              <a:rPr>
                <a:solidFill>
                  <a:srgbClr val="4758AB"/>
                </a:solidFill>
                <a:latin typeface="Courier"/>
              </a:rPr>
              <a:t>if_else</a:t>
            </a:r>
            <a:r>
              <a:rPr>
                <a:solidFill>
                  <a:srgbClr val="003B4F"/>
                </a:solidFill>
                <a:latin typeface="Courier"/>
              </a:rPr>
              <a:t>(CNSR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br/>
            <a:br/>
            <a:r>
              <a:rPr>
                <a:solidFill>
                  <a:srgbClr val="5E5E5E"/>
                </a:solidFill>
                <a:latin typeface="Courier"/>
              </a:rPr>
              <a:t># Create exposure categories</a:t>
            </a:r>
            <a:br/>
            <a:r>
              <a:rPr>
                <a:solidFill>
                  <a:srgbClr val="003B4F"/>
                </a:solidFill>
                <a:latin typeface="Courier"/>
              </a:rPr>
              <a:t>exposure_cats &lt;- adsl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AUC_TERTILE =</a:t>
            </a:r>
            <a:r>
              <a:rPr>
                <a:solidFill>
                  <a:srgbClr val="003B4F"/>
                </a:solidFill>
                <a:latin typeface="Courier"/>
              </a:rPr>
              <a:t> </a:t>
            </a:r>
            <a:r>
              <a:rPr>
                <a:solidFill>
                  <a:srgbClr val="4758AB"/>
                </a:solidFill>
                <a:latin typeface="Courier"/>
              </a:rPr>
              <a:t>cut</a:t>
            </a:r>
            <a:r>
              <a:rPr>
                <a:solidFill>
                  <a:srgbClr val="003B4F"/>
                </a:solidFill>
                <a:latin typeface="Courier"/>
              </a:rPr>
              <a:t>(AUC0_24,</a:t>
            </a:r>
            <a:br/>
            <a:r>
              <a:rPr>
                <a:solidFill>
                  <a:srgbClr val="003B4F"/>
                </a:solidFill>
                <a:latin typeface="Courier"/>
              </a:rPr>
              <a:t>      </a:t>
            </a:r>
            <a:r>
              <a:rPr>
                <a:solidFill>
                  <a:srgbClr val="657422"/>
                </a:solidFill>
                <a:latin typeface="Courier"/>
              </a:rPr>
              <a:t>breaks =</a:t>
            </a:r>
            <a:r>
              <a:rPr>
                <a:solidFill>
                  <a:srgbClr val="003B4F"/>
                </a:solidFill>
                <a:latin typeface="Courier"/>
              </a:rPr>
              <a:t> </a:t>
            </a:r>
            <a:r>
              <a:rPr>
                <a:solidFill>
                  <a:srgbClr val="4758AB"/>
                </a:solidFill>
                <a:latin typeface="Courier"/>
              </a:rPr>
              <a:t>quantile</a:t>
            </a:r>
            <a:r>
              <a:rPr>
                <a:solidFill>
                  <a:srgbClr val="003B4F"/>
                </a:solidFill>
                <a:latin typeface="Courier"/>
              </a:rPr>
              <a:t>(AUC0_24, </a:t>
            </a:r>
            <a:r>
              <a:rPr>
                <a:solidFill>
                  <a:srgbClr val="657422"/>
                </a:solidFill>
                <a:latin typeface="Courier"/>
              </a:rPr>
              <a:t>probs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"Low"</a:t>
            </a:r>
            <a:r>
              <a:rPr>
                <a:solidFill>
                  <a:srgbClr val="003B4F"/>
                </a:solidFill>
                <a:latin typeface="Courier"/>
              </a:rPr>
              <a:t>, </a:t>
            </a:r>
            <a:r>
              <a:rPr>
                <a:solidFill>
                  <a:srgbClr val="20794D"/>
                </a:solidFill>
                <a:latin typeface="Courier"/>
              </a:rPr>
              <a:t>"Medium"</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a:t>
            </a:r>
            <a:br/>
            <a:r>
              <a:rPr>
                <a:solidFill>
                  <a:srgbClr val="003B4F"/>
                </a:solidFill>
                <a:latin typeface="Courier"/>
              </a:rPr>
              <a:t>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EE: Analysis-Ready Output</a:t>
            </a:r>
          </a:p>
        </p:txBody>
      </p:sp>
      <p:sp>
        <p:nvSpPr>
          <p:cNvPr id="3" name="Content Placeholder 2"/>
          <p:cNvSpPr>
            <a:spLocks noGrp="1"/>
          </p:cNvSpPr>
          <p:nvPr>
            <p:ph idx="1"/>
          </p:nvPr>
        </p:nvSpPr>
        <p:spPr/>
        <p:txBody>
          <a:bodyPr/>
          <a:lstStyle/>
          <a:p>
            <a:pPr lvl="0" indent="0">
              <a:buNone/>
            </a:pPr>
            <a:r>
              <a:rPr>
                <a:solidFill>
                  <a:srgbClr val="5E5E5E"/>
                </a:solidFill>
                <a:latin typeface="Courier"/>
              </a:rPr>
              <a:t># ADEE structure</a:t>
            </a:r>
            <a:br/>
            <a:r>
              <a:rPr>
                <a:solidFill>
                  <a:srgbClr val="003B4F"/>
                </a:solidFill>
                <a:latin typeface="Courier"/>
              </a:rPr>
              <a:t>USUBJID </a:t>
            </a:r>
            <a:r>
              <a:rPr>
                <a:solidFill>
                  <a:srgbClr val="5E5E5E"/>
                </a:solidFill>
                <a:latin typeface="Courier"/>
              </a:rPr>
              <a:t>|</a:t>
            </a:r>
            <a:r>
              <a:rPr>
                <a:solidFill>
                  <a:srgbClr val="003B4F"/>
                </a:solidFill>
                <a:latin typeface="Courier"/>
              </a:rPr>
              <a:t> PARAMCD </a:t>
            </a:r>
            <a:r>
              <a:rPr>
                <a:solidFill>
                  <a:srgbClr val="5E5E5E"/>
                </a:solidFill>
                <a:latin typeface="Courier"/>
              </a:rPr>
              <a:t>|</a:t>
            </a:r>
            <a:r>
              <a:rPr>
                <a:solidFill>
                  <a:srgbClr val="003B4F"/>
                </a:solidFill>
                <a:latin typeface="Courier"/>
              </a:rPr>
              <a:t> AVAL </a:t>
            </a:r>
            <a:r>
              <a:rPr>
                <a:solidFill>
                  <a:srgbClr val="5E5E5E"/>
                </a:solidFill>
                <a:latin typeface="Courier"/>
              </a:rPr>
              <a:t>|</a:t>
            </a:r>
            <a:r>
              <a:rPr>
                <a:solidFill>
                  <a:srgbClr val="003B4F"/>
                </a:solidFill>
                <a:latin typeface="Courier"/>
              </a:rPr>
              <a:t> AVALU </a:t>
            </a:r>
            <a:r>
              <a:rPr>
                <a:solidFill>
                  <a:srgbClr val="5E5E5E"/>
                </a:solidFill>
                <a:latin typeface="Courier"/>
              </a:rPr>
              <a:t>|</a:t>
            </a:r>
            <a:r>
              <a:rPr>
                <a:solidFill>
                  <a:srgbClr val="003B4F"/>
                </a:solidFill>
                <a:latin typeface="Courier"/>
              </a:rPr>
              <a:t> CNSR </a:t>
            </a:r>
            <a:r>
              <a:rPr>
                <a:solidFill>
                  <a:srgbClr val="5E5E5E"/>
                </a:solidFill>
                <a:latin typeface="Courier"/>
              </a:rPr>
              <a:t>|</a:t>
            </a:r>
            <a:r>
              <a:rPr>
                <a:solidFill>
                  <a:srgbClr val="003B4F"/>
                </a:solidFill>
                <a:latin typeface="Courier"/>
              </a:rPr>
              <a:t> EVENT </a:t>
            </a:r>
            <a:r>
              <a:rPr>
                <a:solidFill>
                  <a:srgbClr val="5E5E5E"/>
                </a:solidFill>
                <a:latin typeface="Courier"/>
              </a:rPr>
              <a:t>|</a:t>
            </a:r>
            <a:r>
              <a:rPr>
                <a:solidFill>
                  <a:srgbClr val="003B4F"/>
                </a:solidFill>
                <a:latin typeface="Courier"/>
              </a:rPr>
              <a:t> AUC0_24 </a:t>
            </a:r>
            <a:r>
              <a:rPr>
                <a:solidFill>
                  <a:srgbClr val="5E5E5E"/>
                </a:solidFill>
                <a:latin typeface="Courier"/>
              </a:rPr>
              <a:t>|</a:t>
            </a:r>
            <a:r>
              <a:rPr>
                <a:solidFill>
                  <a:srgbClr val="003B4F"/>
                </a:solidFill>
                <a:latin typeface="Courier"/>
              </a:rPr>
              <a:t> AUC_TERTILE </a:t>
            </a:r>
            <a:r>
              <a:rPr>
                <a:solidFill>
                  <a:srgbClr val="5E5E5E"/>
                </a:solidFill>
                <a:latin typeface="Courier"/>
              </a:rPr>
              <a:t>|</a:t>
            </a:r>
            <a:r>
              <a:rPr>
                <a:solidFill>
                  <a:srgbClr val="003B4F"/>
                </a:solidFill>
                <a:latin typeface="Courier"/>
              </a:rPr>
              <a:t> LOGAUC</a:t>
            </a:r>
            <a:b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br/>
            <a:r>
              <a:rPr>
                <a:solidFill>
                  <a:srgbClr val="AD0000"/>
                </a:solidFill>
                <a:latin typeface="Courier"/>
              </a:rPr>
              <a:t>001-001</a:t>
            </a:r>
            <a:r>
              <a:rPr>
                <a:solidFill>
                  <a:srgbClr val="003B4F"/>
                </a:solidFill>
                <a:latin typeface="Courier"/>
              </a:rPr>
              <a:t> </a:t>
            </a:r>
            <a:r>
              <a:rPr>
                <a:solidFill>
                  <a:srgbClr val="5E5E5E"/>
                </a:solidFill>
                <a:latin typeface="Courier"/>
              </a:rPr>
              <a:t>|</a:t>
            </a:r>
            <a:r>
              <a:rPr>
                <a:solidFill>
                  <a:srgbClr val="003B4F"/>
                </a:solidFill>
                <a:latin typeface="Courier"/>
              </a:rPr>
              <a:t> PFS     </a:t>
            </a:r>
            <a:r>
              <a:rPr>
                <a:solidFill>
                  <a:srgbClr val="5E5E5E"/>
                </a:solidFill>
                <a:latin typeface="Courier"/>
              </a:rPr>
              <a:t>|</a:t>
            </a:r>
            <a:r>
              <a:rPr>
                <a:solidFill>
                  <a:srgbClr val="003B4F"/>
                </a:solidFill>
                <a:latin typeface="Courier"/>
              </a:rPr>
              <a:t> </a:t>
            </a:r>
            <a:r>
              <a:rPr>
                <a:solidFill>
                  <a:srgbClr val="AD0000"/>
                </a:solidFill>
                <a:latin typeface="Courier"/>
              </a:rPr>
              <a:t>104</a:t>
            </a:r>
            <a:r>
              <a:rPr>
                <a:solidFill>
                  <a:srgbClr val="003B4F"/>
                </a:solidFill>
                <a:latin typeface="Courier"/>
              </a:rPr>
              <a:t>  </a:t>
            </a:r>
            <a:r>
              <a:rPr>
                <a:solidFill>
                  <a:srgbClr val="5E5E5E"/>
                </a:solidFill>
                <a:latin typeface="Courier"/>
              </a:rPr>
              <a:t>|</a:t>
            </a:r>
            <a:r>
              <a:rPr>
                <a:solidFill>
                  <a:srgbClr val="003B4F"/>
                </a:solidFill>
                <a:latin typeface="Courier"/>
              </a:rPr>
              <a:t> DAYS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450</a:t>
            </a:r>
            <a:r>
              <a:rPr>
                <a:solidFill>
                  <a:srgbClr val="003B4F"/>
                </a:solidFill>
                <a:latin typeface="Courier"/>
              </a:rPr>
              <a:t>     </a:t>
            </a:r>
            <a:r>
              <a:rPr>
                <a:solidFill>
                  <a:srgbClr val="5E5E5E"/>
                </a:solidFill>
                <a:latin typeface="Courier"/>
              </a:rPr>
              <a:t>|</a:t>
            </a:r>
            <a:r>
              <a:rPr>
                <a:solidFill>
                  <a:srgbClr val="003B4F"/>
                </a:solidFill>
                <a:latin typeface="Courier"/>
              </a:rPr>
              <a:t> Low         </a:t>
            </a:r>
            <a:r>
              <a:rPr>
                <a:solidFill>
                  <a:srgbClr val="5E5E5E"/>
                </a:solidFill>
                <a:latin typeface="Courier"/>
              </a:rPr>
              <a:t>|</a:t>
            </a:r>
            <a:r>
              <a:rPr>
                <a:solidFill>
                  <a:srgbClr val="003B4F"/>
                </a:solidFill>
                <a:latin typeface="Courier"/>
              </a:rPr>
              <a:t> </a:t>
            </a:r>
            <a:r>
              <a:rPr>
                <a:solidFill>
                  <a:srgbClr val="AD0000"/>
                </a:solidFill>
                <a:latin typeface="Courier"/>
              </a:rPr>
              <a:t>6.11</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PFS     </a:t>
            </a:r>
            <a:r>
              <a:rPr>
                <a:solidFill>
                  <a:srgbClr val="5E5E5E"/>
                </a:solidFill>
                <a:latin typeface="Courier"/>
              </a:rPr>
              <a:t>|</a:t>
            </a:r>
            <a:r>
              <a:rPr>
                <a:solidFill>
                  <a:srgbClr val="003B4F"/>
                </a:solidFill>
                <a:latin typeface="Courier"/>
              </a:rPr>
              <a:t> </a:t>
            </a:r>
            <a:r>
              <a:rPr>
                <a:solidFill>
                  <a:srgbClr val="AD0000"/>
                </a:solidFill>
                <a:latin typeface="Courier"/>
              </a:rPr>
              <a:t>135</a:t>
            </a:r>
            <a:r>
              <a:rPr>
                <a:solidFill>
                  <a:srgbClr val="003B4F"/>
                </a:solidFill>
                <a:latin typeface="Courier"/>
              </a:rPr>
              <a:t>  </a:t>
            </a:r>
            <a:r>
              <a:rPr>
                <a:solidFill>
                  <a:srgbClr val="5E5E5E"/>
                </a:solidFill>
                <a:latin typeface="Courier"/>
              </a:rPr>
              <a:t>|</a:t>
            </a:r>
            <a:r>
              <a:rPr>
                <a:solidFill>
                  <a:srgbClr val="003B4F"/>
                </a:solidFill>
                <a:latin typeface="Courier"/>
              </a:rPr>
              <a:t> DAYS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520</a:t>
            </a:r>
            <a:r>
              <a:rPr>
                <a:solidFill>
                  <a:srgbClr val="003B4F"/>
                </a:solidFill>
                <a:latin typeface="Courier"/>
              </a:rPr>
              <a:t>     </a:t>
            </a:r>
            <a:r>
              <a:rPr>
                <a:solidFill>
                  <a:srgbClr val="5E5E5E"/>
                </a:solidFill>
                <a:latin typeface="Courier"/>
              </a:rPr>
              <a:t>|</a:t>
            </a:r>
            <a:r>
              <a:rPr>
                <a:solidFill>
                  <a:srgbClr val="003B4F"/>
                </a:solidFill>
                <a:latin typeface="Courier"/>
              </a:rPr>
              <a:t> Medium      </a:t>
            </a:r>
            <a:r>
              <a:rPr>
                <a:solidFill>
                  <a:srgbClr val="5E5E5E"/>
                </a:solidFill>
                <a:latin typeface="Courier"/>
              </a:rPr>
              <a:t>|</a:t>
            </a:r>
            <a:r>
              <a:rPr>
                <a:solidFill>
                  <a:srgbClr val="003B4F"/>
                </a:solidFill>
                <a:latin typeface="Courier"/>
              </a:rPr>
              <a:t> </a:t>
            </a:r>
            <a:r>
              <a:rPr>
                <a:solidFill>
                  <a:srgbClr val="AD0000"/>
                </a:solidFill>
                <a:latin typeface="Courier"/>
              </a:rPr>
              <a:t>6.25</a:t>
            </a:r>
            <a:br/>
            <a:r>
              <a:rPr>
                <a:solidFill>
                  <a:srgbClr val="AD0000"/>
                </a:solidFill>
                <a:latin typeface="Courier"/>
              </a:rPr>
              <a:t>001-003</a:t>
            </a:r>
            <a:r>
              <a:rPr>
                <a:solidFill>
                  <a:srgbClr val="003B4F"/>
                </a:solidFill>
                <a:latin typeface="Courier"/>
              </a:rPr>
              <a:t> </a:t>
            </a:r>
            <a:r>
              <a:rPr>
                <a:solidFill>
                  <a:srgbClr val="5E5E5E"/>
                </a:solidFill>
                <a:latin typeface="Courier"/>
              </a:rPr>
              <a:t>|</a:t>
            </a:r>
            <a:r>
              <a:rPr>
                <a:solidFill>
                  <a:srgbClr val="003B4F"/>
                </a:solidFill>
                <a:latin typeface="Courier"/>
              </a:rPr>
              <a:t> PFS     </a:t>
            </a:r>
            <a:r>
              <a:rPr>
                <a:solidFill>
                  <a:srgbClr val="5E5E5E"/>
                </a:solidFill>
                <a:latin typeface="Courier"/>
              </a:rPr>
              <a:t>|</a:t>
            </a:r>
            <a:r>
              <a:rPr>
                <a:solidFill>
                  <a:srgbClr val="003B4F"/>
                </a:solidFill>
                <a:latin typeface="Courier"/>
              </a:rPr>
              <a:t> </a:t>
            </a:r>
            <a:r>
              <a:rPr>
                <a:solidFill>
                  <a:srgbClr val="AD0000"/>
                </a:solidFill>
                <a:latin typeface="Courier"/>
              </a:rPr>
              <a:t>213</a:t>
            </a:r>
            <a:r>
              <a:rPr>
                <a:solidFill>
                  <a:srgbClr val="003B4F"/>
                </a:solidFill>
                <a:latin typeface="Courier"/>
              </a:rPr>
              <a:t>  </a:t>
            </a:r>
            <a:r>
              <a:rPr>
                <a:solidFill>
                  <a:srgbClr val="5E5E5E"/>
                </a:solidFill>
                <a:latin typeface="Courier"/>
              </a:rPr>
              <a:t>|</a:t>
            </a:r>
            <a:r>
              <a:rPr>
                <a:solidFill>
                  <a:srgbClr val="003B4F"/>
                </a:solidFill>
                <a:latin typeface="Courier"/>
              </a:rPr>
              <a:t> DAYS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680</a:t>
            </a:r>
            <a:r>
              <a:rPr>
                <a:solidFill>
                  <a:srgbClr val="003B4F"/>
                </a:solidFill>
                <a:latin typeface="Courier"/>
              </a:rPr>
              <a:t>     </a:t>
            </a:r>
            <a:r>
              <a:rPr>
                <a:solidFill>
                  <a:srgbClr val="5E5E5E"/>
                </a:solidFill>
                <a:latin typeface="Courier"/>
              </a:rPr>
              <a:t>|</a:t>
            </a:r>
            <a:r>
              <a:rPr>
                <a:solidFill>
                  <a:srgbClr val="003B4F"/>
                </a:solidFill>
                <a:latin typeface="Courier"/>
              </a:rPr>
              <a:t> High        </a:t>
            </a:r>
            <a:r>
              <a:rPr>
                <a:solidFill>
                  <a:srgbClr val="5E5E5E"/>
                </a:solidFill>
                <a:latin typeface="Courier"/>
              </a:rPr>
              <a:t>|</a:t>
            </a:r>
            <a:r>
              <a:rPr>
                <a:solidFill>
                  <a:srgbClr val="003B4F"/>
                </a:solidFill>
                <a:latin typeface="Courier"/>
              </a:rPr>
              <a:t> </a:t>
            </a:r>
            <a:r>
              <a:rPr>
                <a:solidFill>
                  <a:srgbClr val="AD0000"/>
                </a:solidFill>
                <a:latin typeface="Courier"/>
              </a:rPr>
              <a:t>6.52</a:t>
            </a:r>
          </a:p>
          <a:p>
            <a:pPr lvl="0" indent="0" marL="0">
              <a:buNone/>
            </a:pPr>
            <a:r>
              <a:rPr b="1"/>
              <a:t>Ready for modeling:</a:t>
            </a:r>
          </a:p>
          <a:p>
            <a:pPr lvl="0" indent="0">
              <a:buNone/>
            </a:pPr>
            <a:r>
              <a:rPr>
                <a:solidFill>
                  <a:srgbClr val="5E5E5E"/>
                </a:solidFill>
                <a:latin typeface="Courier"/>
              </a:rPr>
              <a:t># Cox proportional hazards</a:t>
            </a:r>
            <a:br/>
            <a:r>
              <a:rPr>
                <a:solidFill>
                  <a:srgbClr val="4758AB"/>
                </a:solidFill>
                <a:latin typeface="Courier"/>
              </a:rPr>
              <a:t>coxph</a:t>
            </a:r>
            <a:r>
              <a:rPr>
                <a:solidFill>
                  <a:srgbClr val="003B4F"/>
                </a:solidFill>
                <a:latin typeface="Courier"/>
              </a:rPr>
              <a:t>(</a:t>
            </a:r>
            <a:r>
              <a:rPr>
                <a:solidFill>
                  <a:srgbClr val="4758AB"/>
                </a:solidFill>
                <a:latin typeface="Courier"/>
              </a:rPr>
              <a:t>Surv</a:t>
            </a:r>
            <a:r>
              <a:rPr>
                <a:solidFill>
                  <a:srgbClr val="003B4F"/>
                </a:solidFill>
                <a:latin typeface="Courier"/>
              </a:rPr>
              <a:t>(AVAL, EVENT) </a:t>
            </a:r>
            <a:r>
              <a:rPr>
                <a:solidFill>
                  <a:srgbClr val="5E5E5E"/>
                </a:solidFill>
                <a:latin typeface="Courier"/>
              </a:rPr>
              <a:t>~</a:t>
            </a:r>
            <a:r>
              <a:rPr>
                <a:solidFill>
                  <a:srgbClr val="003B4F"/>
                </a:solidFill>
                <a:latin typeface="Courier"/>
              </a:rPr>
              <a:t> LOGAUC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SEX, </a:t>
            </a:r>
            <a:r>
              <a:rPr>
                <a:solidFill>
                  <a:srgbClr val="657422"/>
                </a:solidFill>
                <a:latin typeface="Courier"/>
              </a:rPr>
              <a:t>data =</a:t>
            </a:r>
            <a:r>
              <a:rPr>
                <a:solidFill>
                  <a:srgbClr val="003B4F"/>
                </a:solidFill>
                <a:latin typeface="Courier"/>
              </a:rPr>
              <a:t> adee)</a:t>
            </a:r>
            <a:br/>
            <a:br/>
            <a:r>
              <a:rPr>
                <a:solidFill>
                  <a:srgbClr val="5E5E5E"/>
                </a:solidFill>
                <a:latin typeface="Courier"/>
              </a:rPr>
              <a:t># By category</a:t>
            </a:r>
            <a:br/>
            <a:r>
              <a:rPr>
                <a:solidFill>
                  <a:srgbClr val="4758AB"/>
                </a:solidFill>
                <a:latin typeface="Courier"/>
              </a:rPr>
              <a:t>survfit</a:t>
            </a:r>
            <a:r>
              <a:rPr>
                <a:solidFill>
                  <a:srgbClr val="003B4F"/>
                </a:solidFill>
                <a:latin typeface="Courier"/>
              </a:rPr>
              <a:t>(</a:t>
            </a:r>
            <a:r>
              <a:rPr>
                <a:solidFill>
                  <a:srgbClr val="4758AB"/>
                </a:solidFill>
                <a:latin typeface="Courier"/>
              </a:rPr>
              <a:t>Surv</a:t>
            </a:r>
            <a:r>
              <a:rPr>
                <a:solidFill>
                  <a:srgbClr val="003B4F"/>
                </a:solidFill>
                <a:latin typeface="Courier"/>
              </a:rPr>
              <a:t>(AVAL, EVENT) </a:t>
            </a:r>
            <a:r>
              <a:rPr>
                <a:solidFill>
                  <a:srgbClr val="5E5E5E"/>
                </a:solidFill>
                <a:latin typeface="Courier"/>
              </a:rPr>
              <a:t>~</a:t>
            </a:r>
            <a:r>
              <a:rPr>
                <a:solidFill>
                  <a:srgbClr val="003B4F"/>
                </a:solidFill>
                <a:latin typeface="Courier"/>
              </a:rPr>
              <a:t> AUC_TERTILE, </a:t>
            </a:r>
            <a:r>
              <a:rPr>
                <a:solidFill>
                  <a:srgbClr val="657422"/>
                </a:solidFill>
                <a:latin typeface="Courier"/>
              </a:rPr>
              <a:t>data =</a:t>
            </a:r>
            <a:r>
              <a:rPr>
                <a:solidFill>
                  <a:srgbClr val="003B4F"/>
                </a:solidFill>
                <a:latin typeface="Courier"/>
              </a:rPr>
              <a:t> adee)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Domain 2: Exposure-Safety</a:t>
            </a:r>
          </a:p>
        </p:txBody>
      </p:sp>
      <p:sp>
        <p:nvSpPr>
          <p:cNvPr id="3" name="Content Placeholder 2"/>
          <p:cNvSpPr>
            <a:spLocks noGrp="1"/>
          </p:cNvSpPr>
          <p:nvPr>
            <p:ph idx="1"/>
          </p:nvPr>
        </p:nvSpPr>
        <p:spPr/>
        <p:txBody>
          <a:bodyPr/>
          <a:lstStyle/>
          <a:p>
            <a:pPr lvl="0" indent="0" marL="0">
              <a:buNone/>
            </a:pPr>
            <a:r>
              <a:rPr b="1"/>
              <a:t>Use Case</a:t>
            </a:r>
            <a:r>
              <a:rPr/>
              <a:t>: Adverse Event Rates by Cmax Categories</a:t>
            </a:r>
          </a:p>
          <a:p>
            <a:pPr lvl="0" indent="0" marL="0">
              <a:buNone/>
            </a:pPr>
            <a:r>
              <a:rPr b="1"/>
              <a:t>Unique Challenges</a:t>
            </a:r>
          </a:p>
          <a:p>
            <a:pPr lvl="0"/>
            <a:r>
              <a:rPr/>
              <a:t>Multiple analysis levels (subject, event, parameter)</a:t>
            </a:r>
          </a:p>
          <a:p>
            <a:pPr lvl="0"/>
            <a:r>
              <a:rPr/>
              <a:t>Time-varying exposure considerations</a:t>
            </a:r>
          </a:p>
          <a:p>
            <a:pPr lvl="0"/>
            <a:r>
              <a:rPr/>
              <a:t>Grade/severity tracking</a:t>
            </a:r>
          </a:p>
          <a:p>
            <a:pPr lvl="0"/>
            <a:r>
              <a:rPr/>
              <a:t>Need both counts and rates</a:t>
            </a:r>
          </a:p>
          <a:p>
            <a:pPr lvl="0" indent="0" marL="0">
              <a:buNone/>
            </a:pPr>
            <a:r>
              <a:rPr b="1"/>
              <a:t>Three Dataset Structures</a:t>
            </a:r>
          </a:p>
          <a:p>
            <a:pPr lvl="0" indent="-342900" marL="342900">
              <a:buAutoNum type="arabicPeriod"/>
            </a:pPr>
            <a:r>
              <a:rPr b="1"/>
              <a:t>Subject-level</a:t>
            </a:r>
            <a:r>
              <a:rPr/>
              <a:t>: Overall AE burden per subject</a:t>
            </a:r>
          </a:p>
          <a:p>
            <a:pPr lvl="0" indent="-342900" marL="342900">
              <a:buAutoNum type="arabicPeriod"/>
            </a:pPr>
            <a:r>
              <a:rPr b="1"/>
              <a:t>Event-level</a:t>
            </a:r>
            <a:r>
              <a:rPr/>
              <a:t>: Individual AE occurrences</a:t>
            </a:r>
            <a:br/>
          </a:p>
          <a:p>
            <a:pPr lvl="0" indent="-342900" marL="342900">
              <a:buAutoNum type="arabicPeriod"/>
            </a:pPr>
            <a:r>
              <a:rPr b="1"/>
              <a:t>Parameter-level</a:t>
            </a:r>
            <a:r>
              <a:rPr/>
              <a:t>: Specific AE types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 Subject-Level Structure</a:t>
            </a:r>
          </a:p>
        </p:txBody>
      </p:sp>
      <p:sp>
        <p:nvSpPr>
          <p:cNvPr id="3" name="Content Placeholder 2"/>
          <p:cNvSpPr>
            <a:spLocks noGrp="1"/>
          </p:cNvSpPr>
          <p:nvPr>
            <p:ph idx="1"/>
          </p:nvPr>
        </p:nvSpPr>
        <p:spPr/>
        <p:txBody>
          <a:bodyPr/>
          <a:lstStyle/>
          <a:p>
            <a:pPr lvl="0" indent="0">
              <a:buNone/>
            </a:pPr>
            <a:r>
              <a:rPr>
                <a:solidFill>
                  <a:srgbClr val="5E5E5E"/>
                </a:solidFill>
                <a:latin typeface="Courier"/>
              </a:rPr>
              <a:t># Subject-level AE summary</a:t>
            </a:r>
            <a:br/>
            <a:r>
              <a:rPr>
                <a:solidFill>
                  <a:srgbClr val="003B4F"/>
                </a:solidFill>
                <a:latin typeface="Courier"/>
              </a:rPr>
              <a:t>ades_subj &lt;- exposure_cats </a:t>
            </a:r>
            <a:r>
              <a:rPr>
                <a:solidFill>
                  <a:srgbClr val="5E5E5E"/>
                </a:solidFill>
                <a:latin typeface="Courier"/>
              </a:rPr>
              <a:t>%&gt;%</a:t>
            </a:r>
            <a:br/>
            <a:r>
              <a:rPr>
                <a:solidFill>
                  <a:srgbClr val="003B4F"/>
                </a:solidFill>
                <a:latin typeface="Courier"/>
              </a:rPr>
              <a:t>  </a:t>
            </a:r>
            <a:r>
              <a:rPr>
                <a:solidFill>
                  <a:srgbClr val="4758AB"/>
                </a:solidFill>
                <a:latin typeface="Courier"/>
              </a:rPr>
              <a:t>left_join</a:t>
            </a:r>
            <a:r>
              <a:rPr>
                <a:solidFill>
                  <a:srgbClr val="003B4F"/>
                </a:solidFill>
                <a:latin typeface="Courier"/>
              </a:rPr>
              <a:t>(ae_summary, </a:t>
            </a:r>
            <a:r>
              <a:rPr>
                <a:solidFill>
                  <a:srgbClr val="657422"/>
                </a:solidFill>
                <a:latin typeface="Courier"/>
              </a:rPr>
              <a:t>by =</a:t>
            </a:r>
            <a:r>
              <a:rPr>
                <a:solidFill>
                  <a:srgbClr val="003B4F"/>
                </a:solidFill>
                <a:latin typeface="Courier"/>
              </a:rPr>
              <a:t> </a:t>
            </a:r>
            <a:r>
              <a:rPr>
                <a:solidFill>
                  <a:srgbClr val="20794D"/>
                </a:solidFill>
                <a:latin typeface="Courier"/>
              </a:rPr>
              <a:t>"USUBJID"</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5E5E5E"/>
                </a:solidFill>
                <a:latin typeface="Courier"/>
              </a:rPr>
              <a:t># Total events</a:t>
            </a:r>
            <a:br/>
            <a:r>
              <a:rPr>
                <a:solidFill>
                  <a:srgbClr val="003B4F"/>
                </a:solidFill>
                <a:latin typeface="Courier"/>
              </a:rPr>
              <a:t>    </a:t>
            </a:r>
            <a:r>
              <a:rPr>
                <a:solidFill>
                  <a:srgbClr val="657422"/>
                </a:solidFill>
                <a:latin typeface="Courier"/>
              </a:rPr>
              <a:t>N_AES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N_SAE =</a:t>
            </a:r>
            <a:r>
              <a:rPr>
                <a:solidFill>
                  <a:srgbClr val="003B4F"/>
                </a:solidFill>
                <a:latin typeface="Courier"/>
              </a:rPr>
              <a:t> </a:t>
            </a:r>
            <a:r>
              <a:rPr>
                <a:solidFill>
                  <a:srgbClr val="4758AB"/>
                </a:solidFill>
                <a:latin typeface="Courier"/>
              </a:rPr>
              <a:t>sum</a:t>
            </a:r>
            <a:r>
              <a:rPr>
                <a:solidFill>
                  <a:srgbClr val="003B4F"/>
                </a:solidFill>
                <a:latin typeface="Courier"/>
              </a:rPr>
              <a:t>(AESER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a:t>
            </a:r>
            <a:br/>
            <a:r>
              <a:rPr>
                <a:solidFill>
                  <a:srgbClr val="003B4F"/>
                </a:solidFill>
                <a:latin typeface="Courier"/>
              </a:rPr>
              <a:t>    </a:t>
            </a:r>
            <a:r>
              <a:rPr>
                <a:solidFill>
                  <a:srgbClr val="657422"/>
                </a:solidFill>
                <a:latin typeface="Courier"/>
              </a:rPr>
              <a:t>N_GRADE3 =</a:t>
            </a:r>
            <a:r>
              <a:rPr>
                <a:solidFill>
                  <a:srgbClr val="003B4F"/>
                </a:solidFill>
                <a:latin typeface="Courier"/>
              </a:rPr>
              <a:t> </a:t>
            </a:r>
            <a:r>
              <a:rPr>
                <a:solidFill>
                  <a:srgbClr val="4758AB"/>
                </a:solidFill>
                <a:latin typeface="Courier"/>
              </a:rPr>
              <a:t>sum</a:t>
            </a:r>
            <a:r>
              <a:rPr>
                <a:solidFill>
                  <a:srgbClr val="003B4F"/>
                </a:solidFill>
                <a:latin typeface="Courier"/>
              </a:rPr>
              <a:t>(AETOXGR </a:t>
            </a:r>
            <a:r>
              <a:rPr>
                <a:solidFill>
                  <a:srgbClr val="5E5E5E"/>
                </a:solidFill>
                <a:latin typeface="Courier"/>
              </a:rPr>
              <a:t>&gt;=</a:t>
            </a:r>
            <a:r>
              <a:rPr>
                <a:solidFill>
                  <a:srgbClr val="003B4F"/>
                </a:solidFill>
                <a:latin typeface="Courier"/>
              </a:rPr>
              <a:t> </a:t>
            </a:r>
            <a:r>
              <a:rPr>
                <a:solidFill>
                  <a:srgbClr val="20794D"/>
                </a:solidFill>
                <a:latin typeface="Courier"/>
              </a:rPr>
              <a:t>"3"</a:t>
            </a:r>
            <a:r>
              <a:rPr>
                <a:solidFill>
                  <a:srgbClr val="003B4F"/>
                </a:solidFill>
                <a:latin typeface="Courier"/>
              </a:rPr>
              <a:t>),</a:t>
            </a:r>
            <a:br/>
            <a:br/>
            <a:r>
              <a:rPr>
                <a:solidFill>
                  <a:srgbClr val="003B4F"/>
                </a:solidFill>
                <a:latin typeface="Courier"/>
              </a:rPr>
              <a:t>    </a:t>
            </a:r>
            <a:r>
              <a:rPr>
                <a:solidFill>
                  <a:srgbClr val="5E5E5E"/>
                </a:solidFill>
                <a:latin typeface="Courier"/>
              </a:rPr>
              <a:t># Rates per 100 patient-days</a:t>
            </a:r>
            <a:br/>
            <a:r>
              <a:rPr>
                <a:solidFill>
                  <a:srgbClr val="003B4F"/>
                </a:solidFill>
                <a:latin typeface="Courier"/>
              </a:rPr>
              <a:t>    </a:t>
            </a:r>
            <a:r>
              <a:rPr>
                <a:solidFill>
                  <a:srgbClr val="657422"/>
                </a:solidFill>
                <a:latin typeface="Courier"/>
              </a:rPr>
              <a:t>RATE_AES =</a:t>
            </a:r>
            <a:r>
              <a:rPr>
                <a:solidFill>
                  <a:srgbClr val="003B4F"/>
                </a:solidFill>
                <a:latin typeface="Courier"/>
              </a:rPr>
              <a:t> (N_AES </a:t>
            </a:r>
            <a:r>
              <a:rPr>
                <a:solidFill>
                  <a:srgbClr val="5E5E5E"/>
                </a:solidFill>
                <a:latin typeface="Courier"/>
              </a:rPr>
              <a:t>/</a:t>
            </a:r>
            <a:r>
              <a:rPr>
                <a:solidFill>
                  <a:srgbClr val="003B4F"/>
                </a:solidFill>
                <a:latin typeface="Courier"/>
              </a:rPr>
              <a:t> TRTDURD)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a:t>
            </a:r>
            <a:br/>
            <a:r>
              <a:rPr>
                <a:solidFill>
                  <a:srgbClr val="003B4F"/>
                </a:solidFill>
                <a:latin typeface="Courier"/>
              </a:rPr>
              <a:t>    </a:t>
            </a:r>
            <a:r>
              <a:rPr>
                <a:solidFill>
                  <a:srgbClr val="657422"/>
                </a:solidFill>
                <a:latin typeface="Courier"/>
              </a:rPr>
              <a:t>RATE_SAE =</a:t>
            </a:r>
            <a:r>
              <a:rPr>
                <a:solidFill>
                  <a:srgbClr val="003B4F"/>
                </a:solidFill>
                <a:latin typeface="Courier"/>
              </a:rPr>
              <a:t> (N_SAE </a:t>
            </a:r>
            <a:r>
              <a:rPr>
                <a:solidFill>
                  <a:srgbClr val="5E5E5E"/>
                </a:solidFill>
                <a:latin typeface="Courier"/>
              </a:rPr>
              <a:t>/</a:t>
            </a:r>
            <a:r>
              <a:rPr>
                <a:solidFill>
                  <a:srgbClr val="003B4F"/>
                </a:solidFill>
                <a:latin typeface="Courier"/>
              </a:rPr>
              <a:t> TRTDURD)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a:t>
            </a:r>
            <a:br/>
            <a:br/>
            <a:r>
              <a:rPr>
                <a:solidFill>
                  <a:srgbClr val="003B4F"/>
                </a:solidFill>
                <a:latin typeface="Courier"/>
              </a:rPr>
              <a:t>    </a:t>
            </a:r>
            <a:r>
              <a:rPr>
                <a:solidFill>
                  <a:srgbClr val="5E5E5E"/>
                </a:solidFill>
                <a:latin typeface="Courier"/>
              </a:rPr>
              <a:t># Binary indicators</a:t>
            </a:r>
            <a:br/>
            <a:r>
              <a:rPr>
                <a:solidFill>
                  <a:srgbClr val="003B4F"/>
                </a:solidFill>
                <a:latin typeface="Courier"/>
              </a:rPr>
              <a:t>    </a:t>
            </a:r>
            <a:r>
              <a:rPr>
                <a:solidFill>
                  <a:srgbClr val="657422"/>
                </a:solidFill>
                <a:latin typeface="Courier"/>
              </a:rPr>
              <a:t>ANY_SAE =</a:t>
            </a:r>
            <a:r>
              <a:rPr>
                <a:solidFill>
                  <a:srgbClr val="003B4F"/>
                </a:solidFill>
                <a:latin typeface="Courier"/>
              </a:rPr>
              <a:t> </a:t>
            </a:r>
            <a:r>
              <a:rPr>
                <a:solidFill>
                  <a:srgbClr val="4758AB"/>
                </a:solidFill>
                <a:latin typeface="Courier"/>
              </a:rPr>
              <a:t>if_else</a:t>
            </a:r>
            <a:r>
              <a:rPr>
                <a:solidFill>
                  <a:srgbClr val="003B4F"/>
                </a:solidFill>
                <a:latin typeface="Courier"/>
              </a:rPr>
              <a:t>(N_SAE </a:t>
            </a:r>
            <a:r>
              <a:rPr>
                <a:solidFill>
                  <a:srgbClr val="5E5E5E"/>
                </a:solidFill>
                <a:latin typeface="Courier"/>
              </a:rPr>
              <a:t>&gt;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20794D"/>
                </a:solidFill>
                <a:latin typeface="Courier"/>
              </a:rPr>
              <a:t>"Y"</a:t>
            </a:r>
            <a:r>
              <a:rPr>
                <a:solidFill>
                  <a:srgbClr val="003B4F"/>
                </a:solidFill>
                <a:latin typeface="Courier"/>
              </a:rPr>
              <a:t>, </a:t>
            </a:r>
            <a:r>
              <a:rPr>
                <a:solidFill>
                  <a:srgbClr val="20794D"/>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ANY_GRADE3 =</a:t>
            </a:r>
            <a:r>
              <a:rPr>
                <a:solidFill>
                  <a:srgbClr val="003B4F"/>
                </a:solidFill>
                <a:latin typeface="Courier"/>
              </a:rPr>
              <a:t> </a:t>
            </a:r>
            <a:r>
              <a:rPr>
                <a:solidFill>
                  <a:srgbClr val="4758AB"/>
                </a:solidFill>
                <a:latin typeface="Courier"/>
              </a:rPr>
              <a:t>if_else</a:t>
            </a:r>
            <a:r>
              <a:rPr>
                <a:solidFill>
                  <a:srgbClr val="003B4F"/>
                </a:solidFill>
                <a:latin typeface="Courier"/>
              </a:rPr>
              <a:t>(N_GRADE3 </a:t>
            </a:r>
            <a:r>
              <a:rPr>
                <a:solidFill>
                  <a:srgbClr val="5E5E5E"/>
                </a:solidFill>
                <a:latin typeface="Courier"/>
              </a:rPr>
              <a:t>&gt;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20794D"/>
                </a:solidFill>
                <a:latin typeface="Courier"/>
              </a:rPr>
              <a:t>"Y"</a:t>
            </a:r>
            <a:r>
              <a:rPr>
                <a:solidFill>
                  <a:srgbClr val="003B4F"/>
                </a:solidFill>
                <a:latin typeface="Courier"/>
              </a:rPr>
              <a:t>, </a:t>
            </a:r>
            <a:r>
              <a:rPr>
                <a:solidFill>
                  <a:srgbClr val="20794D"/>
                </a:solidFill>
                <a:latin typeface="Courier"/>
              </a:rPr>
              <a:t>"N"</a:t>
            </a:r>
            <a:r>
              <a:rPr>
                <a:solidFill>
                  <a:srgbClr val="003B4F"/>
                </a:solidFill>
                <a:latin typeface="Courier"/>
              </a:rPr>
              <a:t>)</a:t>
            </a:r>
            <a:br/>
            <a:r>
              <a:rPr>
                <a:solidFill>
                  <a:srgbClr val="003B4F"/>
                </a:solidFill>
                <a:latin typeface="Courier"/>
              </a:rPr>
              <a:t>  )</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 Event-Level for Detailed Analysis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Event-level dataset</a:t>
            </a:r>
            <a:br/>
            <a:r>
              <a:rPr>
                <a:solidFill>
                  <a:srgbClr val="003B4F"/>
                </a:solidFill>
                <a:latin typeface="Courier"/>
              </a:rPr>
              <a:t>USUBJID </a:t>
            </a:r>
            <a:r>
              <a:rPr>
                <a:solidFill>
                  <a:srgbClr val="5E5E5E"/>
                </a:solidFill>
                <a:latin typeface="Courier"/>
              </a:rPr>
              <a:t>|</a:t>
            </a:r>
            <a:r>
              <a:rPr>
                <a:solidFill>
                  <a:srgbClr val="003B4F"/>
                </a:solidFill>
                <a:latin typeface="Courier"/>
              </a:rPr>
              <a:t> AEDECOD    </a:t>
            </a:r>
            <a:r>
              <a:rPr>
                <a:solidFill>
                  <a:srgbClr val="5E5E5E"/>
                </a:solidFill>
                <a:latin typeface="Courier"/>
              </a:rPr>
              <a:t>|</a:t>
            </a:r>
            <a:r>
              <a:rPr>
                <a:solidFill>
                  <a:srgbClr val="003B4F"/>
                </a:solidFill>
                <a:latin typeface="Courier"/>
              </a:rPr>
              <a:t> AETOXGR </a:t>
            </a:r>
            <a:r>
              <a:rPr>
                <a:solidFill>
                  <a:srgbClr val="5E5E5E"/>
                </a:solidFill>
                <a:latin typeface="Courier"/>
              </a:rPr>
              <a:t>|</a:t>
            </a:r>
            <a:r>
              <a:rPr>
                <a:solidFill>
                  <a:srgbClr val="003B4F"/>
                </a:solidFill>
                <a:latin typeface="Courier"/>
              </a:rPr>
              <a:t> ASTDY </a:t>
            </a:r>
            <a:r>
              <a:rPr>
                <a:solidFill>
                  <a:srgbClr val="5E5E5E"/>
                </a:solidFill>
                <a:latin typeface="Courier"/>
              </a:rPr>
              <a:t>|</a:t>
            </a:r>
            <a:r>
              <a:rPr>
                <a:solidFill>
                  <a:srgbClr val="003B4F"/>
                </a:solidFill>
                <a:latin typeface="Courier"/>
              </a:rPr>
              <a:t> CMAX </a:t>
            </a:r>
            <a:r>
              <a:rPr>
                <a:solidFill>
                  <a:srgbClr val="5E5E5E"/>
                </a:solidFill>
                <a:latin typeface="Courier"/>
              </a:rPr>
              <a:t>|</a:t>
            </a:r>
            <a:r>
              <a:rPr>
                <a:solidFill>
                  <a:srgbClr val="003B4F"/>
                </a:solidFill>
                <a:latin typeface="Courier"/>
              </a:rPr>
              <a:t> CMAX_TERTILE </a:t>
            </a:r>
            <a:r>
              <a:rPr>
                <a:solidFill>
                  <a:srgbClr val="5E5E5E"/>
                </a:solidFill>
                <a:latin typeface="Courier"/>
              </a:rPr>
              <a:t>|</a:t>
            </a:r>
            <a:r>
              <a:rPr>
                <a:solidFill>
                  <a:srgbClr val="003B4F"/>
                </a:solidFill>
                <a:latin typeface="Courier"/>
              </a:rPr>
              <a:t> GRADE3FL</a:t>
            </a:r>
            <a:b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br/>
            <a:r>
              <a:rPr>
                <a:solidFill>
                  <a:srgbClr val="AD0000"/>
                </a:solidFill>
                <a:latin typeface="Courier"/>
              </a:rPr>
              <a:t>001-001</a:t>
            </a:r>
            <a:r>
              <a:rPr>
                <a:solidFill>
                  <a:srgbClr val="003B4F"/>
                </a:solidFill>
                <a:latin typeface="Courier"/>
              </a:rPr>
              <a:t> </a:t>
            </a:r>
            <a:r>
              <a:rPr>
                <a:solidFill>
                  <a:srgbClr val="5E5E5E"/>
                </a:solidFill>
                <a:latin typeface="Courier"/>
              </a:rPr>
              <a:t>|</a:t>
            </a:r>
            <a:r>
              <a:rPr>
                <a:solidFill>
                  <a:srgbClr val="003B4F"/>
                </a:solidFill>
                <a:latin typeface="Courier"/>
              </a:rPr>
              <a:t> Nausea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125</a:t>
            </a:r>
            <a:r>
              <a:rPr>
                <a:solidFill>
                  <a:srgbClr val="003B4F"/>
                </a:solidFill>
                <a:latin typeface="Courier"/>
              </a:rPr>
              <a:t>  </a:t>
            </a:r>
            <a:r>
              <a:rPr>
                <a:solidFill>
                  <a:srgbClr val="5E5E5E"/>
                </a:solidFill>
                <a:latin typeface="Courier"/>
              </a:rPr>
              <a:t>|</a:t>
            </a:r>
            <a:r>
              <a:rPr>
                <a:solidFill>
                  <a:srgbClr val="003B4F"/>
                </a:solidFill>
                <a:latin typeface="Courier"/>
              </a:rPr>
              <a:t> Low          </a:t>
            </a:r>
            <a:r>
              <a:rPr>
                <a:solidFill>
                  <a:srgbClr val="5E5E5E"/>
                </a:solidFill>
                <a:latin typeface="Courier"/>
              </a:rPr>
              <a:t>|</a:t>
            </a:r>
            <a:r>
              <a:rPr>
                <a:solidFill>
                  <a:srgbClr val="003B4F"/>
                </a:solidFill>
                <a:latin typeface="Courier"/>
              </a:rPr>
              <a:t> N</a:t>
            </a:r>
            <a:br/>
            <a:r>
              <a:rPr>
                <a:solidFill>
                  <a:srgbClr val="AD0000"/>
                </a:solidFill>
                <a:latin typeface="Courier"/>
              </a:rPr>
              <a:t>001-001</a:t>
            </a:r>
            <a:r>
              <a:rPr>
                <a:solidFill>
                  <a:srgbClr val="003B4F"/>
                </a:solidFill>
                <a:latin typeface="Courier"/>
              </a:rPr>
              <a:t> </a:t>
            </a:r>
            <a:r>
              <a:rPr>
                <a:solidFill>
                  <a:srgbClr val="5E5E5E"/>
                </a:solidFill>
                <a:latin typeface="Courier"/>
              </a:rPr>
              <a:t>|</a:t>
            </a:r>
            <a:r>
              <a:rPr>
                <a:solidFill>
                  <a:srgbClr val="003B4F"/>
                </a:solidFill>
                <a:latin typeface="Courier"/>
              </a:rPr>
              <a:t> Fatigue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125</a:t>
            </a:r>
            <a:r>
              <a:rPr>
                <a:solidFill>
                  <a:srgbClr val="003B4F"/>
                </a:solidFill>
                <a:latin typeface="Courier"/>
              </a:rPr>
              <a:t>  </a:t>
            </a:r>
            <a:r>
              <a:rPr>
                <a:solidFill>
                  <a:srgbClr val="5E5E5E"/>
                </a:solidFill>
                <a:latin typeface="Courier"/>
              </a:rPr>
              <a:t>|</a:t>
            </a:r>
            <a:r>
              <a:rPr>
                <a:solidFill>
                  <a:srgbClr val="003B4F"/>
                </a:solidFill>
                <a:latin typeface="Courier"/>
              </a:rPr>
              <a:t> Low          </a:t>
            </a:r>
            <a:r>
              <a:rPr>
                <a:solidFill>
                  <a:srgbClr val="5E5E5E"/>
                </a:solidFill>
                <a:latin typeface="Courier"/>
              </a:rPr>
              <a:t>|</a:t>
            </a:r>
            <a:r>
              <a:rPr>
                <a:solidFill>
                  <a:srgbClr val="003B4F"/>
                </a:solidFill>
                <a:latin typeface="Courier"/>
              </a:rPr>
              <a:t> N</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Neutropenia</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145</a:t>
            </a:r>
            <a:r>
              <a:rPr>
                <a:solidFill>
                  <a:srgbClr val="003B4F"/>
                </a:solidFill>
                <a:latin typeface="Courier"/>
              </a:rPr>
              <a:t>  </a:t>
            </a:r>
            <a:r>
              <a:rPr>
                <a:solidFill>
                  <a:srgbClr val="5E5E5E"/>
                </a:solidFill>
                <a:latin typeface="Courier"/>
              </a:rPr>
              <a:t>|</a:t>
            </a:r>
            <a:r>
              <a:rPr>
                <a:solidFill>
                  <a:srgbClr val="003B4F"/>
                </a:solidFill>
                <a:latin typeface="Courier"/>
              </a:rPr>
              <a:t> Medium       </a:t>
            </a:r>
            <a:r>
              <a:rPr>
                <a:solidFill>
                  <a:srgbClr val="5E5E5E"/>
                </a:solidFill>
                <a:latin typeface="Courier"/>
              </a:rPr>
              <a:t>|</a:t>
            </a:r>
            <a:r>
              <a:rPr>
                <a:solidFill>
                  <a:srgbClr val="003B4F"/>
                </a:solidFill>
                <a:latin typeface="Courier"/>
              </a:rPr>
              <a:t> Y</a:t>
            </a:r>
          </a:p>
          <a:p>
            <a:pPr lvl="0" indent="0" marL="0">
              <a:buNone/>
            </a:pPr>
            <a:r>
              <a:rPr b="1"/>
              <a:t>Enables analyses like:</a:t>
            </a:r>
          </a:p>
          <a:p>
            <a:pPr lvl="0"/>
            <a:r>
              <a:rPr/>
              <a:t>Time to first Grade 3+ AE</a:t>
            </a:r>
          </a:p>
          <a:p>
            <a:pPr lvl="0"/>
            <a:r>
              <a:rPr/>
              <a:t>Recurring event models</a:t>
            </a:r>
          </a:p>
          <a:p>
            <a:pPr lvl="0"/>
            <a:r>
              <a:rPr/>
              <a:t>Exposure-toxicity relationships by AE type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Domain 3: Tumor Response</a:t>
            </a:r>
          </a:p>
        </p:txBody>
      </p:sp>
      <p:sp>
        <p:nvSpPr>
          <p:cNvPr id="3" name="Content Placeholder 2"/>
          <p:cNvSpPr>
            <a:spLocks noGrp="1"/>
          </p:cNvSpPr>
          <p:nvPr>
            <p:ph idx="1"/>
          </p:nvPr>
        </p:nvSpPr>
        <p:spPr/>
        <p:txBody>
          <a:bodyPr/>
          <a:lstStyle/>
          <a:p>
            <a:pPr lvl="0" indent="0" marL="0">
              <a:buNone/>
            </a:pPr>
            <a:r>
              <a:rPr b="1"/>
              <a:t>Use Case</a:t>
            </a:r>
            <a:r>
              <a:rPr/>
              <a:t>: Longitudinal Tumor Measurements with RECIST 1.1</a:t>
            </a:r>
          </a:p>
          <a:p>
            <a:pPr lvl="0" indent="0" marL="0">
              <a:buNone/>
            </a:pPr>
            <a:r>
              <a:rPr b="1"/>
              <a:t>Key Features</a:t>
            </a:r>
          </a:p>
          <a:p>
            <a:pPr lvl="0"/>
            <a:r>
              <a:rPr/>
              <a:t>Repeated measures over time</a:t>
            </a:r>
          </a:p>
          <a:p>
            <a:pPr lvl="0"/>
            <a:r>
              <a:rPr/>
              <a:t>Baseline normalization critical</a:t>
            </a:r>
          </a:p>
          <a:p>
            <a:pPr lvl="0"/>
            <a:r>
              <a:rPr/>
              <a:t>Categorical response criteria (CR, PR, SD, PD)</a:t>
            </a:r>
          </a:p>
          <a:p>
            <a:pPr lvl="0"/>
            <a:r>
              <a:rPr/>
              <a:t>Best overall response (BOR) derivation</a:t>
            </a:r>
          </a:p>
          <a:p>
            <a:pPr lvl="0" indent="0" marL="0">
              <a:buNone/>
            </a:pPr>
            <a:r>
              <a:rPr b="1"/>
              <a:t>Analysis Approaches</a:t>
            </a:r>
          </a:p>
          <a:p>
            <a:pPr lvl="0"/>
            <a:r>
              <a:rPr/>
              <a:t>Waterfall plots (best percent change)</a:t>
            </a:r>
          </a:p>
          <a:p>
            <a:pPr lvl="0"/>
            <a:r>
              <a:rPr/>
              <a:t>Spider plots (individual trajectories)</a:t>
            </a:r>
          </a:p>
          <a:p>
            <a:pPr lvl="0"/>
            <a:r>
              <a:rPr/>
              <a:t>Response rate by exposure</a:t>
            </a:r>
          </a:p>
          <a:p>
            <a:pPr lvl="0"/>
            <a:r>
              <a:rPr/>
              <a:t>Time to response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Tumor Response: Longitudinal Structure</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adtr &lt;- tr_raw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PARAM =</a:t>
            </a:r>
            <a:r>
              <a:rPr>
                <a:solidFill>
                  <a:srgbClr val="003B4F"/>
                </a:solidFill>
                <a:latin typeface="Courier"/>
              </a:rPr>
              <a:t> </a:t>
            </a:r>
            <a:r>
              <a:rPr>
                <a:solidFill>
                  <a:srgbClr val="20794D"/>
                </a:solidFill>
                <a:latin typeface="Courier"/>
              </a:rPr>
              <a:t>"Sum of Target Lesion Diameters"</a:t>
            </a:r>
            <a:r>
              <a:rPr>
                <a:solidFill>
                  <a:srgbClr val="003B4F"/>
                </a:solidFill>
                <a:latin typeface="Courier"/>
              </a:rPr>
              <a:t>,</a:t>
            </a:r>
            <a:br/>
            <a:r>
              <a:rPr>
                <a:solidFill>
                  <a:srgbClr val="003B4F"/>
                </a:solidFill>
                <a:latin typeface="Courier"/>
              </a:rPr>
              <a:t>    </a:t>
            </a:r>
            <a:r>
              <a:rPr>
                <a:solidFill>
                  <a:srgbClr val="657422"/>
                </a:solidFill>
                <a:latin typeface="Courier"/>
              </a:rPr>
              <a:t>PARAMCD =</a:t>
            </a:r>
            <a:r>
              <a:rPr>
                <a:solidFill>
                  <a:srgbClr val="003B4F"/>
                </a:solidFill>
                <a:latin typeface="Courier"/>
              </a:rPr>
              <a:t> </a:t>
            </a:r>
            <a:r>
              <a:rPr>
                <a:solidFill>
                  <a:srgbClr val="20794D"/>
                </a:solidFill>
                <a:latin typeface="Courier"/>
              </a:rPr>
              <a:t>"STDIAM"</a:t>
            </a:r>
            <a:r>
              <a:rPr>
                <a:solidFill>
                  <a:srgbClr val="003B4F"/>
                </a:solidFill>
                <a:latin typeface="Courier"/>
              </a:rPr>
              <a:t>,</a:t>
            </a:r>
            <a:br/>
            <a:r>
              <a:rPr>
                <a:solidFill>
                  <a:srgbClr val="003B4F"/>
                </a:solidFill>
                <a:latin typeface="Courier"/>
              </a:rPr>
              <a:t>    </a:t>
            </a:r>
            <a:r>
              <a:rPr>
                <a:solidFill>
                  <a:srgbClr val="657422"/>
                </a:solidFill>
                <a:latin typeface="Courier"/>
              </a:rPr>
              <a:t>AVAL =</a:t>
            </a:r>
            <a:r>
              <a:rPr>
                <a:solidFill>
                  <a:srgbClr val="003B4F"/>
                </a:solidFill>
                <a:latin typeface="Courier"/>
              </a:rPr>
              <a:t> TRORRES, </a:t>
            </a:r>
            <a:r>
              <a:rPr>
                <a:solidFill>
                  <a:srgbClr val="5E5E5E"/>
                </a:solidFill>
                <a:latin typeface="Courier"/>
              </a:rPr>
              <a:t># Raw measurement</a:t>
            </a:r>
            <a:br/>
            <a:r>
              <a:rPr>
                <a:solidFill>
                  <a:srgbClr val="003B4F"/>
                </a:solidFill>
                <a:latin typeface="Courier"/>
              </a:rPr>
              <a:t>    </a:t>
            </a:r>
            <a:r>
              <a:rPr>
                <a:solidFill>
                  <a:srgbClr val="657422"/>
                </a:solidFill>
                <a:latin typeface="Courier"/>
              </a:rPr>
              <a:t>ADY =</a:t>
            </a:r>
            <a:r>
              <a:rPr>
                <a:solidFill>
                  <a:srgbClr val="003B4F"/>
                </a:solidFill>
                <a:latin typeface="Courier"/>
              </a:rPr>
              <a:t> </a:t>
            </a:r>
            <a:r>
              <a:rPr>
                <a:solidFill>
                  <a:srgbClr val="4758AB"/>
                </a:solidFill>
                <a:latin typeface="Courier"/>
              </a:rPr>
              <a:t>as.numeric</a:t>
            </a:r>
            <a:r>
              <a:rPr>
                <a:solidFill>
                  <a:srgbClr val="003B4F"/>
                </a:solidFill>
                <a:latin typeface="Courier"/>
              </a:rPr>
              <a:t>(ADT </a:t>
            </a:r>
            <a:r>
              <a:rPr>
                <a:solidFill>
                  <a:srgbClr val="5E5E5E"/>
                </a:solidFill>
                <a:latin typeface="Courier"/>
              </a:rPr>
              <a:t>-</a:t>
            </a:r>
            <a:r>
              <a:rPr>
                <a:solidFill>
                  <a:srgbClr val="003B4F"/>
                </a:solidFill>
                <a:latin typeface="Courier"/>
              </a:rPr>
              <a:t> TRTSDT) </a:t>
            </a:r>
            <a:r>
              <a:rPr>
                <a:solidFill>
                  <a:srgbClr val="5E5E5E"/>
                </a:solidFill>
                <a:latin typeface="Courier"/>
              </a:rPr>
              <a:t>+</a:t>
            </a:r>
            <a:r>
              <a:rPr>
                <a:solidFill>
                  <a:srgbClr val="003B4F"/>
                </a:solidFill>
                <a:latin typeface="Courier"/>
              </a:rPr>
              <a:t> </a:t>
            </a:r>
            <a:r>
              <a:rPr>
                <a:solidFill>
                  <a:srgbClr val="AD0000"/>
                </a:solidFill>
                <a:latin typeface="Courier"/>
              </a:rPr>
              <a:t>1</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Identify baseline</a:t>
            </a:r>
            <a:br/>
            <a:r>
              <a:rPr>
                <a:solidFill>
                  <a:srgbClr val="003B4F"/>
                </a:solidFill>
                <a:latin typeface="Courier"/>
              </a:rPr>
              <a:t>  </a:t>
            </a:r>
            <a:r>
              <a:rPr>
                <a:solidFill>
                  <a:srgbClr val="4758AB"/>
                </a:solidFill>
                <a:latin typeface="Courier"/>
              </a:rPr>
              <a:t>group_by</a:t>
            </a:r>
            <a:r>
              <a:rPr>
                <a:solidFill>
                  <a:srgbClr val="003B4F"/>
                </a:solidFill>
                <a:latin typeface="Courier"/>
              </a:rPr>
              <a:t>(USUBJID, PARAMCD)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ABLFL =</a:t>
            </a:r>
            <a:r>
              <a:rPr>
                <a:solidFill>
                  <a:srgbClr val="003B4F"/>
                </a:solidFill>
                <a:latin typeface="Courier"/>
              </a:rPr>
              <a:t> </a:t>
            </a:r>
            <a:r>
              <a:rPr>
                <a:solidFill>
                  <a:srgbClr val="4758AB"/>
                </a:solidFill>
                <a:latin typeface="Courier"/>
              </a:rPr>
              <a:t>if_else</a:t>
            </a:r>
            <a:r>
              <a:rPr>
                <a:solidFill>
                  <a:srgbClr val="003B4F"/>
                </a:solidFill>
                <a:latin typeface="Courier"/>
              </a:rPr>
              <a:t>(VISITNUM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20794D"/>
                </a:solidFill>
                <a:latin typeface="Courier"/>
              </a:rPr>
              <a:t>"Y"</a:t>
            </a:r>
            <a:r>
              <a:rPr>
                <a:solidFill>
                  <a:srgbClr val="003B4F"/>
                </a:solidFill>
                <a:latin typeface="Courier"/>
              </a:rPr>
              <a:t>, </a:t>
            </a:r>
            <a:r>
              <a:rPr>
                <a:solidFill>
                  <a:srgbClr val="8F5902"/>
                </a:solidFill>
                <a:latin typeface="Courier"/>
              </a:rPr>
              <a:t>NA_character_</a:t>
            </a:r>
            <a:r>
              <a:rPr>
                <a:solidFill>
                  <a:srgbClr val="003B4F"/>
                </a:solidFill>
                <a:latin typeface="Courier"/>
              </a:rPr>
              <a:t>),</a:t>
            </a:r>
            <a:br/>
            <a:r>
              <a:rPr>
                <a:solidFill>
                  <a:srgbClr val="003B4F"/>
                </a:solidFill>
                <a:latin typeface="Courier"/>
              </a:rPr>
              <a:t>    </a:t>
            </a:r>
            <a:r>
              <a:rPr>
                <a:solidFill>
                  <a:srgbClr val="657422"/>
                </a:solidFill>
                <a:latin typeface="Courier"/>
              </a:rPr>
              <a:t>BASE =</a:t>
            </a:r>
            <a:r>
              <a:rPr>
                <a:solidFill>
                  <a:srgbClr val="003B4F"/>
                </a:solidFill>
                <a:latin typeface="Courier"/>
              </a:rPr>
              <a:t> AVAL[ABLFL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5E5E5E"/>
                </a:solidFill>
                <a:latin typeface="Courier"/>
              </a:rPr>
              <a:t># Calculate changes</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CHG =</a:t>
            </a:r>
            <a:r>
              <a:rPr>
                <a:solidFill>
                  <a:srgbClr val="003B4F"/>
                </a:solidFill>
                <a:latin typeface="Courier"/>
              </a:rPr>
              <a:t> </a:t>
            </a:r>
            <a:r>
              <a:rPr>
                <a:solidFill>
                  <a:srgbClr val="4758AB"/>
                </a:solidFill>
                <a:latin typeface="Courier"/>
              </a:rPr>
              <a:t>if_else</a:t>
            </a:r>
            <a:r>
              <a:rPr>
                <a:solidFill>
                  <a:srgbClr val="003B4F"/>
                </a:solidFill>
                <a:latin typeface="Courier"/>
              </a:rPr>
              <a:t>(ABLFL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 AVAL </a:t>
            </a:r>
            <a:r>
              <a:rPr>
                <a:solidFill>
                  <a:srgbClr val="5E5E5E"/>
                </a:solidFill>
                <a:latin typeface="Courier"/>
              </a:rPr>
              <a:t>-</a:t>
            </a:r>
            <a:r>
              <a:rPr>
                <a:solidFill>
                  <a:srgbClr val="003B4F"/>
                </a:solidFill>
                <a:latin typeface="Courier"/>
              </a:rPr>
              <a:t> BASE, </a:t>
            </a:r>
            <a:r>
              <a:rPr>
                <a:solidFill>
                  <a:srgbClr val="8F5902"/>
                </a:solidFill>
                <a:latin typeface="Courier"/>
              </a:rPr>
              <a:t>NA_real_</a:t>
            </a:r>
            <a:r>
              <a:rPr>
                <a:solidFill>
                  <a:srgbClr val="003B4F"/>
                </a:solidFill>
                <a:latin typeface="Courier"/>
              </a:rPr>
              <a:t>),</a:t>
            </a:r>
            <a:br/>
            <a:r>
              <a:rPr>
                <a:solidFill>
                  <a:srgbClr val="003B4F"/>
                </a:solidFill>
                <a:latin typeface="Courier"/>
              </a:rPr>
              <a:t>    </a:t>
            </a:r>
            <a:r>
              <a:rPr>
                <a:solidFill>
                  <a:srgbClr val="657422"/>
                </a:solidFill>
                <a:latin typeface="Courier"/>
              </a:rPr>
              <a:t>PCHG =</a:t>
            </a:r>
            <a:r>
              <a:rPr>
                <a:solidFill>
                  <a:srgbClr val="003B4F"/>
                </a:solidFill>
                <a:latin typeface="Courier"/>
              </a:rPr>
              <a:t> </a:t>
            </a:r>
            <a:r>
              <a:rPr>
                <a:solidFill>
                  <a:srgbClr val="4758AB"/>
                </a:solidFill>
                <a:latin typeface="Courier"/>
              </a:rPr>
              <a:t>if_else</a:t>
            </a:r>
            <a:r>
              <a:rPr>
                <a:solidFill>
                  <a:srgbClr val="003B4F"/>
                </a:solidFill>
                <a:latin typeface="Courier"/>
              </a:rPr>
              <a:t>(ABLFL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 (AVAL </a:t>
            </a:r>
            <a:r>
              <a:rPr>
                <a:solidFill>
                  <a:srgbClr val="5E5E5E"/>
                </a:solidFill>
                <a:latin typeface="Courier"/>
              </a:rPr>
              <a:t>-</a:t>
            </a:r>
            <a:r>
              <a:rPr>
                <a:solidFill>
                  <a:srgbClr val="003B4F"/>
                </a:solidFill>
                <a:latin typeface="Courier"/>
              </a:rPr>
              <a:t> BASE) </a:t>
            </a:r>
            <a:r>
              <a:rPr>
                <a:solidFill>
                  <a:srgbClr val="5E5E5E"/>
                </a:solidFill>
                <a:latin typeface="Courier"/>
              </a:rPr>
              <a:t>/</a:t>
            </a:r>
            <a:r>
              <a:rPr>
                <a:solidFill>
                  <a:srgbClr val="003B4F"/>
                </a:solidFill>
                <a:latin typeface="Courier"/>
              </a:rPr>
              <a:t> BASE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8F5902"/>
                </a:solidFill>
                <a:latin typeface="Courier"/>
              </a:rPr>
              <a:t>NA_real_</a:t>
            </a:r>
            <a:r>
              <a:rPr>
                <a:solidFill>
                  <a:srgbClr val="003B4F"/>
                </a:solidFill>
                <a:latin typeface="Courier"/>
              </a:rPr>
              <a:t>)</a:t>
            </a:r>
            <a:br/>
            <a:r>
              <a:rPr>
                <a:solidFill>
                  <a:srgbClr val="003B4F"/>
                </a:solidFill>
                <a:latin typeface="Courier"/>
              </a:rPr>
              <a:t>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RECIST Criteria Implementation</a:t>
            </a:r>
          </a:p>
        </p:txBody>
      </p:sp>
      <p:sp>
        <p:nvSpPr>
          <p:cNvPr id="3" name="Content Placeholder 2"/>
          <p:cNvSpPr>
            <a:spLocks noGrp="1"/>
          </p:cNvSpPr>
          <p:nvPr>
            <p:ph idx="1"/>
          </p:nvPr>
        </p:nvSpPr>
        <p:spPr/>
        <p:txBody>
          <a:bodyPr/>
          <a:lstStyle/>
          <a:p>
            <a:pPr lvl="0" indent="0">
              <a:buNone/>
            </a:pPr>
            <a:r>
              <a:rPr>
                <a:solidFill>
                  <a:srgbClr val="003B4F"/>
                </a:solidFill>
                <a:latin typeface="Courier"/>
              </a:rPr>
              <a:t>adtr &lt;- adtr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AVALC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ABLFL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"BASELINE"</a:t>
            </a:r>
            <a:r>
              <a:rPr>
                <a:solidFill>
                  <a:srgbClr val="003B4F"/>
                </a:solidFill>
                <a:latin typeface="Courier"/>
              </a:rPr>
              <a:t>,</a:t>
            </a:r>
            <a:br/>
            <a:r>
              <a:rPr>
                <a:solidFill>
                  <a:srgbClr val="003B4F"/>
                </a:solidFill>
                <a:latin typeface="Courier"/>
              </a:rPr>
              <a:t>      AVAL </a:t>
            </a:r>
            <a:r>
              <a:rPr>
                <a:solidFill>
                  <a:srgbClr val="5E5E5E"/>
                </a:solidFill>
                <a:latin typeface="Courier"/>
              </a:rPr>
              <a:t>==</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"CR"</a:t>
            </a:r>
            <a:r>
              <a:rPr>
                <a:solidFill>
                  <a:srgbClr val="003B4F"/>
                </a:solidFill>
                <a:latin typeface="Courier"/>
              </a:rPr>
              <a:t>, </a:t>
            </a:r>
            <a:r>
              <a:rPr>
                <a:solidFill>
                  <a:srgbClr val="5E5E5E"/>
                </a:solidFill>
                <a:latin typeface="Courier"/>
              </a:rPr>
              <a:t># Complete Response</a:t>
            </a:r>
            <a:br/>
            <a:r>
              <a:rPr>
                <a:solidFill>
                  <a:srgbClr val="003B4F"/>
                </a:solidFill>
                <a:latin typeface="Courier"/>
              </a:rPr>
              <a:t>      PCHG </a:t>
            </a:r>
            <a:r>
              <a:rPr>
                <a:solidFill>
                  <a:srgbClr val="5E5E5E"/>
                </a:solidFill>
                <a:latin typeface="Courier"/>
              </a:rPr>
              <a:t>&lt;=</a:t>
            </a:r>
            <a:r>
              <a:rPr>
                <a:solidFill>
                  <a:srgbClr val="003B4F"/>
                </a:solidFill>
                <a:latin typeface="Courier"/>
              </a:rPr>
              <a:t> </a:t>
            </a:r>
            <a:r>
              <a:rPr>
                <a:solidFill>
                  <a:srgbClr val="5E5E5E"/>
                </a:solidFill>
                <a:latin typeface="Courier"/>
              </a:rPr>
              <a:t>-</a:t>
            </a:r>
            <a:r>
              <a:rPr>
                <a:solidFill>
                  <a:srgbClr val="AD0000"/>
                </a:solidFill>
                <a:latin typeface="Courier"/>
              </a:rPr>
              <a:t>30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"PR"</a:t>
            </a:r>
            <a:r>
              <a:rPr>
                <a:solidFill>
                  <a:srgbClr val="003B4F"/>
                </a:solidFill>
                <a:latin typeface="Courier"/>
              </a:rPr>
              <a:t>, </a:t>
            </a:r>
            <a:r>
              <a:rPr>
                <a:solidFill>
                  <a:srgbClr val="5E5E5E"/>
                </a:solidFill>
                <a:latin typeface="Courier"/>
              </a:rPr>
              <a:t># Partial Response (≥30% decrease)</a:t>
            </a:r>
            <a:br/>
            <a:r>
              <a:rPr>
                <a:solidFill>
                  <a:srgbClr val="003B4F"/>
                </a:solidFill>
                <a:latin typeface="Courier"/>
              </a:rPr>
              <a:t>      PCHG </a:t>
            </a:r>
            <a:r>
              <a:rPr>
                <a:solidFill>
                  <a:srgbClr val="5E5E5E"/>
                </a:solidFill>
                <a:latin typeface="Courier"/>
              </a:rPr>
              <a:t>&gt;=</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"PD"</a:t>
            </a:r>
            <a:r>
              <a:rPr>
                <a:solidFill>
                  <a:srgbClr val="003B4F"/>
                </a:solidFill>
                <a:latin typeface="Courier"/>
              </a:rPr>
              <a:t>, </a:t>
            </a:r>
            <a:r>
              <a:rPr>
                <a:solidFill>
                  <a:srgbClr val="5E5E5E"/>
                </a:solidFill>
                <a:latin typeface="Courier"/>
              </a:rPr>
              <a:t># Progressive Disease (≥20% increase)</a:t>
            </a:r>
            <a:b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"SD"</a:t>
            </a:r>
            <a:r>
              <a:rPr>
                <a:solidFill>
                  <a:srgbClr val="003B4F"/>
                </a:solidFill>
                <a:latin typeface="Courier"/>
              </a:rPr>
              <a:t> </a:t>
            </a:r>
            <a:r>
              <a:rPr>
                <a:solidFill>
                  <a:srgbClr val="5E5E5E"/>
                </a:solidFill>
                <a:latin typeface="Courier"/>
              </a:rPr>
              <a:t># Stable Disease</a:t>
            </a:r>
            <a:br/>
            <a:r>
              <a:rPr>
                <a:solidFill>
                  <a:srgbClr val="003B4F"/>
                </a:solidFill>
                <a:latin typeface="Courier"/>
              </a:rPr>
              <a:t>    )</a:t>
            </a:r>
            <a:br/>
            <a:r>
              <a:rPr>
                <a:solidFill>
                  <a:srgbClr val="003B4F"/>
                </a:solidFill>
                <a:latin typeface="Courier"/>
              </a:rPr>
              <a:t>  )</a:t>
            </a:r>
            <a:br/>
            <a:br/>
            <a:r>
              <a:rPr>
                <a:solidFill>
                  <a:srgbClr val="5E5E5E"/>
                </a:solidFill>
                <a:latin typeface="Courier"/>
              </a:rPr>
              <a:t># Best Overall Response (BOR)</a:t>
            </a:r>
            <a:br/>
            <a:r>
              <a:rPr>
                <a:solidFill>
                  <a:srgbClr val="003B4F"/>
                </a:solidFill>
                <a:latin typeface="Courier"/>
              </a:rPr>
              <a:t>bor &lt;- adtr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(ABLFL </a:t>
            </a:r>
            <a:r>
              <a:rPr>
                <a:solidFill>
                  <a:srgbClr val="5E5E5E"/>
                </a:solidFill>
                <a:latin typeface="Courier"/>
              </a:rPr>
              <a:t>!=</a:t>
            </a:r>
            <a:r>
              <a:rPr>
                <a:solidFill>
                  <a:srgbClr val="003B4F"/>
                </a:solidFill>
                <a:latin typeface="Courier"/>
              </a:rPr>
              <a:t> </a:t>
            </a:r>
            <a:r>
              <a:rPr>
                <a:solidFill>
                  <a:srgbClr val="20794D"/>
                </a:solidFill>
                <a:latin typeface="Courier"/>
              </a:rPr>
              <a:t>"Y"</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(USUBJID)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BOR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a:t>
            </a:r>
            <a:r>
              <a:rPr>
                <a:solidFill>
                  <a:srgbClr val="4758AB"/>
                </a:solidFill>
                <a:latin typeface="Courier"/>
              </a:rPr>
              <a:t>any</a:t>
            </a:r>
            <a:r>
              <a:rPr>
                <a:solidFill>
                  <a:srgbClr val="003B4F"/>
                </a:solidFill>
                <a:latin typeface="Courier"/>
              </a:rPr>
              <a:t>(AVALC </a:t>
            </a:r>
            <a:r>
              <a:rPr>
                <a:solidFill>
                  <a:srgbClr val="5E5E5E"/>
                </a:solidFill>
                <a:latin typeface="Courier"/>
              </a:rPr>
              <a:t>==</a:t>
            </a:r>
            <a:r>
              <a:rPr>
                <a:solidFill>
                  <a:srgbClr val="003B4F"/>
                </a:solidFill>
                <a:latin typeface="Courier"/>
              </a:rPr>
              <a:t> </a:t>
            </a:r>
            <a:r>
              <a:rPr>
                <a:solidFill>
                  <a:srgbClr val="20794D"/>
                </a:solidFill>
                <a:latin typeface="Courier"/>
              </a:rPr>
              <a:t>"CR"</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"CR"</a:t>
            </a:r>
            <a:r>
              <a:rPr>
                <a:solidFill>
                  <a:srgbClr val="003B4F"/>
                </a:solidFill>
                <a:latin typeface="Courier"/>
              </a:rPr>
              <a:t>,</a:t>
            </a:r>
            <a:br/>
            <a:r>
              <a:rPr>
                <a:solidFill>
                  <a:srgbClr val="003B4F"/>
                </a:solidFill>
                <a:latin typeface="Courier"/>
              </a:rPr>
              <a:t>      </a:t>
            </a:r>
            <a:r>
              <a:rPr>
                <a:solidFill>
                  <a:srgbClr val="4758AB"/>
                </a:solidFill>
                <a:latin typeface="Courier"/>
              </a:rPr>
              <a:t>any</a:t>
            </a:r>
            <a:r>
              <a:rPr>
                <a:solidFill>
                  <a:srgbClr val="003B4F"/>
                </a:solidFill>
                <a:latin typeface="Courier"/>
              </a:rPr>
              <a:t>(AVALC </a:t>
            </a:r>
            <a:r>
              <a:rPr>
                <a:solidFill>
                  <a:srgbClr val="5E5E5E"/>
                </a:solidFill>
                <a:latin typeface="Courier"/>
              </a:rPr>
              <a:t>==</a:t>
            </a:r>
            <a:r>
              <a:rPr>
                <a:solidFill>
                  <a:srgbClr val="003B4F"/>
                </a:solidFill>
                <a:latin typeface="Courier"/>
              </a:rPr>
              <a:t> </a:t>
            </a:r>
            <a:r>
              <a:rPr>
                <a:solidFill>
                  <a:srgbClr val="20794D"/>
                </a:solidFill>
                <a:latin typeface="Courier"/>
              </a:rPr>
              <a:t>"PR"</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"PR"</a:t>
            </a:r>
            <a:r>
              <a:rPr>
                <a:solidFill>
                  <a:srgbClr val="003B4F"/>
                </a:solidFill>
                <a:latin typeface="Courier"/>
              </a:rPr>
              <a:t>,</a:t>
            </a:r>
            <a:br/>
            <a:r>
              <a:rPr>
                <a:solidFill>
                  <a:srgbClr val="003B4F"/>
                </a:solidFill>
                <a:latin typeface="Courier"/>
              </a:rPr>
              <a:t>      </a:t>
            </a:r>
            <a:r>
              <a:rPr>
                <a:solidFill>
                  <a:srgbClr val="4758AB"/>
                </a:solidFill>
                <a:latin typeface="Courier"/>
              </a:rPr>
              <a:t>any</a:t>
            </a:r>
            <a:r>
              <a:rPr>
                <a:solidFill>
                  <a:srgbClr val="003B4F"/>
                </a:solidFill>
                <a:latin typeface="Courier"/>
              </a:rPr>
              <a:t>(AVALC </a:t>
            </a:r>
            <a:r>
              <a:rPr>
                <a:solidFill>
                  <a:srgbClr val="5E5E5E"/>
                </a:solidFill>
                <a:latin typeface="Courier"/>
              </a:rPr>
              <a:t>==</a:t>
            </a:r>
            <a:r>
              <a:rPr>
                <a:solidFill>
                  <a:srgbClr val="003B4F"/>
                </a:solidFill>
                <a:latin typeface="Courier"/>
              </a:rPr>
              <a:t> </a:t>
            </a:r>
            <a:r>
              <a:rPr>
                <a:solidFill>
                  <a:srgbClr val="20794D"/>
                </a:solidFill>
                <a:latin typeface="Courier"/>
              </a:rPr>
              <a:t>"PD"</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"PD"</a:t>
            </a:r>
            <a:r>
              <a:rPr>
                <a:solidFill>
                  <a:srgbClr val="003B4F"/>
                </a:solidFill>
                <a:latin typeface="Courier"/>
              </a:rPr>
              <a:t>,</a:t>
            </a:r>
            <a:br/>
            <a:r>
              <a:rPr>
                <a:solidFill>
                  <a:srgbClr val="003B4F"/>
                </a:solidFill>
                <a:latin typeface="Courier"/>
              </a:rPr>
              <a:t>      </a:t>
            </a:r>
            <a:r>
              <a:rPr>
                <a:solidFill>
                  <a:srgbClr val="4758AB"/>
                </a:solidFill>
                <a:latin typeface="Courier"/>
              </a:rPr>
              <a:t>any</a:t>
            </a:r>
            <a:r>
              <a:rPr>
                <a:solidFill>
                  <a:srgbClr val="003B4F"/>
                </a:solidFill>
                <a:latin typeface="Courier"/>
              </a:rPr>
              <a:t>(AVALC </a:t>
            </a:r>
            <a:r>
              <a:rPr>
                <a:solidFill>
                  <a:srgbClr val="5E5E5E"/>
                </a:solidFill>
                <a:latin typeface="Courier"/>
              </a:rPr>
              <a:t>==</a:t>
            </a:r>
            <a:r>
              <a:rPr>
                <a:solidFill>
                  <a:srgbClr val="003B4F"/>
                </a:solidFill>
                <a:latin typeface="Courier"/>
              </a:rPr>
              <a:t> </a:t>
            </a:r>
            <a:r>
              <a:rPr>
                <a:solidFill>
                  <a:srgbClr val="20794D"/>
                </a:solidFill>
                <a:latin typeface="Courier"/>
              </a:rPr>
              <a:t>"SD"</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"SD"</a:t>
            </a:r>
            <a:br/>
            <a:r>
              <a:rPr>
                <a:solidFill>
                  <a:srgbClr val="003B4F"/>
                </a:solidFill>
                <a:latin typeface="Courier"/>
              </a:rPr>
              <a:t>    )</a:t>
            </a:r>
            <a:br/>
            <a:r>
              <a:rPr>
                <a:solidFill>
                  <a:srgbClr val="003B4F"/>
                </a:solidFill>
                <a:latin typeface="Courier"/>
              </a:rPr>
              <a:t>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Tumor Response: Output Structure</a:t>
            </a:r>
          </a:p>
        </p:txBody>
      </p:sp>
      <p:sp>
        <p:nvSpPr>
          <p:cNvPr id="3" name="Content Placeholder 2"/>
          <p:cNvSpPr>
            <a:spLocks noGrp="1"/>
          </p:cNvSpPr>
          <p:nvPr>
            <p:ph idx="1"/>
          </p:nvPr>
        </p:nvSpPr>
        <p:spPr/>
        <p:txBody>
          <a:bodyPr/>
          <a:lstStyle/>
          <a:p>
            <a:pPr lvl="0" indent="0">
              <a:buNone/>
            </a:pPr>
            <a:r>
              <a:rPr>
                <a:solidFill>
                  <a:srgbClr val="5E5E5E"/>
                </a:solidFill>
                <a:latin typeface="Courier"/>
              </a:rPr>
              <a:t># Longitudinal measurements</a:t>
            </a:r>
            <a:br/>
            <a:r>
              <a:rPr>
                <a:solidFill>
                  <a:srgbClr val="003B4F"/>
                </a:solidFill>
                <a:latin typeface="Courier"/>
              </a:rPr>
              <a:t>USUBJID </a:t>
            </a:r>
            <a:r>
              <a:rPr>
                <a:solidFill>
                  <a:srgbClr val="5E5E5E"/>
                </a:solidFill>
                <a:latin typeface="Courier"/>
              </a:rPr>
              <a:t>|</a:t>
            </a:r>
            <a:r>
              <a:rPr>
                <a:solidFill>
                  <a:srgbClr val="003B4F"/>
                </a:solidFill>
                <a:latin typeface="Courier"/>
              </a:rPr>
              <a:t> VISIT   </a:t>
            </a:r>
            <a:r>
              <a:rPr>
                <a:solidFill>
                  <a:srgbClr val="5E5E5E"/>
                </a:solidFill>
                <a:latin typeface="Courier"/>
              </a:rPr>
              <a:t>|</a:t>
            </a:r>
            <a:r>
              <a:rPr>
                <a:solidFill>
                  <a:srgbClr val="003B4F"/>
                </a:solidFill>
                <a:latin typeface="Courier"/>
              </a:rPr>
              <a:t> ADY </a:t>
            </a:r>
            <a:r>
              <a:rPr>
                <a:solidFill>
                  <a:srgbClr val="5E5E5E"/>
                </a:solidFill>
                <a:latin typeface="Courier"/>
              </a:rPr>
              <a:t>|</a:t>
            </a:r>
            <a:r>
              <a:rPr>
                <a:solidFill>
                  <a:srgbClr val="003B4F"/>
                </a:solidFill>
                <a:latin typeface="Courier"/>
              </a:rPr>
              <a:t> BASE </a:t>
            </a:r>
            <a:r>
              <a:rPr>
                <a:solidFill>
                  <a:srgbClr val="5E5E5E"/>
                </a:solidFill>
                <a:latin typeface="Courier"/>
              </a:rPr>
              <a:t>|</a:t>
            </a:r>
            <a:r>
              <a:rPr>
                <a:solidFill>
                  <a:srgbClr val="003B4F"/>
                </a:solidFill>
                <a:latin typeface="Courier"/>
              </a:rPr>
              <a:t> AVAL </a:t>
            </a:r>
            <a:r>
              <a:rPr>
                <a:solidFill>
                  <a:srgbClr val="5E5E5E"/>
                </a:solidFill>
                <a:latin typeface="Courier"/>
              </a:rPr>
              <a:t>|</a:t>
            </a:r>
            <a:r>
              <a:rPr>
                <a:solidFill>
                  <a:srgbClr val="003B4F"/>
                </a:solidFill>
                <a:latin typeface="Courier"/>
              </a:rPr>
              <a:t> CHG  </a:t>
            </a:r>
            <a:r>
              <a:rPr>
                <a:solidFill>
                  <a:srgbClr val="5E5E5E"/>
                </a:solidFill>
                <a:latin typeface="Courier"/>
              </a:rPr>
              <a:t>|</a:t>
            </a:r>
            <a:r>
              <a:rPr>
                <a:solidFill>
                  <a:srgbClr val="003B4F"/>
                </a:solidFill>
                <a:latin typeface="Courier"/>
              </a:rPr>
              <a:t> PCHG   </a:t>
            </a:r>
            <a:r>
              <a:rPr>
                <a:solidFill>
                  <a:srgbClr val="5E5E5E"/>
                </a:solidFill>
                <a:latin typeface="Courier"/>
              </a:rPr>
              <a:t>|</a:t>
            </a:r>
            <a:r>
              <a:rPr>
                <a:solidFill>
                  <a:srgbClr val="003B4F"/>
                </a:solidFill>
                <a:latin typeface="Courier"/>
              </a:rPr>
              <a:t> AVALC </a:t>
            </a:r>
            <a:r>
              <a:rPr>
                <a:solidFill>
                  <a:srgbClr val="5E5E5E"/>
                </a:solidFill>
                <a:latin typeface="Courier"/>
              </a:rPr>
              <a:t>|</a:t>
            </a:r>
            <a:r>
              <a:rPr>
                <a:solidFill>
                  <a:srgbClr val="003B4F"/>
                </a:solidFill>
                <a:latin typeface="Courier"/>
              </a:rPr>
              <a:t> BOR </a:t>
            </a:r>
            <a:r>
              <a:rPr>
                <a:solidFill>
                  <a:srgbClr val="5E5E5E"/>
                </a:solidFill>
                <a:latin typeface="Courier"/>
              </a:rPr>
              <a:t>|</a:t>
            </a:r>
            <a:r>
              <a:rPr>
                <a:solidFill>
                  <a:srgbClr val="003B4F"/>
                </a:solidFill>
                <a:latin typeface="Courier"/>
              </a:rPr>
              <a:t> AUC_TERTILE</a:t>
            </a:r>
            <a:b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r>
              <a:rPr>
                <a:solidFill>
                  <a:srgbClr val="AD0000"/>
                </a:solidFill>
                <a:latin typeface="Courier"/>
              </a:rPr>
              <a:t>|</a:t>
            </a:r>
            <a:r>
              <a:rPr>
                <a:solidFill>
                  <a:srgbClr val="5E5E5E"/>
                </a:solidFill>
                <a:latin typeface="Courier"/>
              </a:rPr>
              <a:t>------------</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BASE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r>
              <a:rPr>
                <a:solidFill>
                  <a:srgbClr val="003B4F"/>
                </a:solidFill>
                <a:latin typeface="Courier"/>
              </a:rPr>
              <a:t> BASE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Medium</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WEEK </a:t>
            </a:r>
            <a:r>
              <a:rPr>
                <a:solidFill>
                  <a:srgbClr val="AD0000"/>
                </a:solidFill>
                <a:latin typeface="Courier"/>
              </a:rPr>
              <a:t>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43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10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15.4</a:t>
            </a:r>
            <a:r>
              <a:rPr>
                <a:solidFill>
                  <a:srgbClr val="003B4F"/>
                </a:solidFill>
                <a:latin typeface="Courier"/>
              </a:rPr>
              <a:t>  </a:t>
            </a:r>
            <a:r>
              <a:rPr>
                <a:solidFill>
                  <a:srgbClr val="5E5E5E"/>
                </a:solidFill>
                <a:latin typeface="Courier"/>
              </a:rPr>
              <a:t>|</a:t>
            </a:r>
            <a:r>
              <a:rPr>
                <a:solidFill>
                  <a:srgbClr val="003B4F"/>
                </a:solidFill>
                <a:latin typeface="Courier"/>
              </a:rPr>
              <a:t> SD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Medium</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WEEK </a:t>
            </a:r>
            <a:r>
              <a:rPr>
                <a:solidFill>
                  <a:srgbClr val="AD0000"/>
                </a:solidFill>
                <a:latin typeface="Courier"/>
              </a:rPr>
              <a:t>12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85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30</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46.2</a:t>
            </a:r>
            <a:r>
              <a:rPr>
                <a:solidFill>
                  <a:srgbClr val="003B4F"/>
                </a:solidFill>
                <a:latin typeface="Courier"/>
              </a:rPr>
              <a:t>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Medium</a:t>
            </a:r>
            <a:br/>
            <a:r>
              <a:rPr>
                <a:solidFill>
                  <a:srgbClr val="AD0000"/>
                </a:solidFill>
                <a:latin typeface="Courier"/>
              </a:rPr>
              <a:t>001-002</a:t>
            </a:r>
            <a:r>
              <a:rPr>
                <a:solidFill>
                  <a:srgbClr val="003B4F"/>
                </a:solidFill>
                <a:latin typeface="Courier"/>
              </a:rPr>
              <a:t> </a:t>
            </a:r>
            <a:r>
              <a:rPr>
                <a:solidFill>
                  <a:srgbClr val="5E5E5E"/>
                </a:solidFill>
                <a:latin typeface="Courier"/>
              </a:rPr>
              <a:t>|</a:t>
            </a:r>
            <a:r>
              <a:rPr>
                <a:solidFill>
                  <a:srgbClr val="003B4F"/>
                </a:solidFill>
                <a:latin typeface="Courier"/>
              </a:rPr>
              <a:t> WEEK </a:t>
            </a:r>
            <a:r>
              <a:rPr>
                <a:solidFill>
                  <a:srgbClr val="AD0000"/>
                </a:solidFill>
                <a:latin typeface="Courier"/>
              </a:rPr>
              <a:t>18</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127</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33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5E5E5E"/>
                </a:solidFill>
                <a:latin typeface="Courier"/>
              </a:rPr>
              <a:t>-</a:t>
            </a:r>
            <a:r>
              <a:rPr>
                <a:solidFill>
                  <a:srgbClr val="AD0000"/>
                </a:solidFill>
                <a:latin typeface="Courier"/>
              </a:rPr>
              <a:t>50.8</a:t>
            </a:r>
            <a:r>
              <a:rPr>
                <a:solidFill>
                  <a:srgbClr val="003B4F"/>
                </a:solidFill>
                <a:latin typeface="Courier"/>
              </a:rPr>
              <a:t>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PR  </a:t>
            </a:r>
            <a:r>
              <a:rPr>
                <a:solidFill>
                  <a:srgbClr val="5E5E5E"/>
                </a:solidFill>
                <a:latin typeface="Courier"/>
              </a:rPr>
              <a:t>|</a:t>
            </a:r>
            <a:r>
              <a:rPr>
                <a:solidFill>
                  <a:srgbClr val="003B4F"/>
                </a:solidFill>
                <a:latin typeface="Courier"/>
              </a:rPr>
              <a:t> Medium</a:t>
            </a:r>
          </a:p>
          <a:p>
            <a:pPr lvl="0" indent="0" marL="0">
              <a:buNone/>
            </a:pPr>
            <a:r>
              <a:rPr b="1"/>
              <a:t>Each subject has:</a:t>
            </a:r>
          </a:p>
          <a:p>
            <a:pPr lvl="0"/>
            <a:r>
              <a:rPr/>
              <a:t>Longitudinal trajectory (for spider plots)</a:t>
            </a:r>
          </a:p>
          <a:p>
            <a:pPr lvl="0"/>
            <a:r>
              <a:rPr/>
              <a:t>Best overall response (for response rate)</a:t>
            </a:r>
          </a:p>
          <a:p>
            <a:pPr lvl="0"/>
            <a:r>
              <a:rPr/>
              <a:t>Exposure metrics (for ER modeling)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Patterns Across Domains</a:t>
            </a:r>
          </a:p>
        </p:txBody>
      </p:sp>
      <p:sp>
        <p:nvSpPr>
          <p:cNvPr id="3" name="Content Placeholder 2"/>
          <p:cNvSpPr>
            <a:spLocks noGrp="1"/>
          </p:cNvSpPr>
          <p:nvPr>
            <p:ph idx="1" sz="half"/>
          </p:nvPr>
        </p:nvSpPr>
        <p:spPr/>
        <p:txBody>
          <a:bodyPr/>
          <a:lstStyle/>
          <a:p>
            <a:pPr lvl="0" indent="0" marL="0">
              <a:buNone/>
            </a:pPr>
            <a:r>
              <a:rPr b="1"/>
              <a:t>Time Variables</a:t>
            </a:r>
          </a:p>
          <a:p>
            <a:pPr lvl="0"/>
            <a:r>
              <a:rPr/>
              <a:t>ADT: Analysis date</a:t>
            </a:r>
          </a:p>
          <a:p>
            <a:pPr lvl="0"/>
            <a:r>
              <a:rPr/>
              <a:t>ADY: Study day (relative to TRTSDT)</a:t>
            </a:r>
          </a:p>
          <a:p>
            <a:pPr lvl="0"/>
            <a:r>
              <a:rPr/>
              <a:t>AVAL: Numeric outcome</a:t>
            </a:r>
          </a:p>
          <a:p>
            <a:pPr lvl="0"/>
            <a:r>
              <a:rPr/>
              <a:t>Consistent calculation methods</a:t>
            </a:r>
          </a:p>
        </p:txBody>
      </p:sp>
      <p:sp>
        <p:nvSpPr>
          <p:cNvPr id="4" name="Content Placeholder 3"/>
          <p:cNvSpPr>
            <a:spLocks noGrp="1"/>
          </p:cNvSpPr>
          <p:nvPr>
            <p:ph idx="2" sz="half"/>
          </p:nvPr>
        </p:nvSpPr>
        <p:spPr/>
        <p:txBody>
          <a:bodyPr/>
          <a:lstStyle/>
          <a:p>
            <a:pPr lvl="0" indent="0" marL="0">
              <a:buNone/>
            </a:pPr>
            <a:r>
              <a:rPr b="1"/>
              <a:t>Exposure Metrics</a:t>
            </a:r>
          </a:p>
          <a:p>
            <a:pPr lvl="0"/>
            <a:r>
              <a:rPr/>
              <a:t>Raw values (AUC, Cmax, Cavg)</a:t>
            </a:r>
          </a:p>
          <a:p>
            <a:pPr lvl="0"/>
            <a:r>
              <a:rPr/>
              <a:t>Transformed (log, standardized)</a:t>
            </a:r>
          </a:p>
          <a:p>
            <a:pPr lvl="0"/>
            <a:r>
              <a:rPr/>
              <a:t>Categorized (tertiles, quartiles)</a:t>
            </a:r>
          </a:p>
          <a:p>
            <a:pPr lvl="0"/>
            <a:r>
              <a:rPr/>
              <a:t>Available at subject level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Analysis Flags</a:t>
            </a:r>
          </a:p>
          <a:p>
            <a:pPr lvl="0"/>
            <a:r>
              <a:rPr/>
              <a:t>ANL01FL: Primary analysis population</a:t>
            </a:r>
          </a:p>
          <a:p>
            <a:pPr lvl="0"/>
            <a:r>
              <a:rPr/>
              <a:t>ANL02FL: Sensitivity analyses</a:t>
            </a:r>
          </a:p>
          <a:p>
            <a:pPr lvl="0"/>
            <a:r>
              <a:rPr/>
              <a:t>Domain-specific (GRADE3FL, RESPFL, etc.)</a:t>
            </a:r>
          </a:p>
          <a:p>
            <a:pPr lvl="0" indent="0" marL="0">
              <a:buNone/>
            </a:pPr>
            <a:r>
              <a:rPr b="1"/>
              <a:t>Traceability</a:t>
            </a:r>
          </a:p>
          <a:p>
            <a:pPr lvl="0"/>
            <a:r>
              <a:rPr/>
              <a:t>Clear link to SDTM (via –SEQ, –DTC)</a:t>
            </a:r>
          </a:p>
          <a:p>
            <a:pPr lvl="0"/>
            <a:r>
              <a:rPr/>
              <a:t>Derivation rules documented</a:t>
            </a:r>
          </a:p>
          <a:p>
            <a:pPr lvl="0"/>
            <a:r>
              <a:rPr/>
              <a:t>Metadata specifications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{admiral}?</a:t>
            </a:r>
          </a:p>
        </p:txBody>
      </p:sp>
      <p:sp>
        <p:nvSpPr>
          <p:cNvPr id="3" name="Content Placeholder 2"/>
          <p:cNvSpPr>
            <a:spLocks noGrp="1"/>
          </p:cNvSpPr>
          <p:nvPr>
            <p:ph idx="1"/>
          </p:nvPr>
        </p:nvSpPr>
        <p:spPr/>
        <p:txBody>
          <a:bodyPr/>
          <a:lstStyle/>
          <a:p>
            <a:pPr lvl="0" indent="0" marL="0">
              <a:buNone/>
            </a:pPr>
            <a:r>
              <a:rPr b="1"/>
              <a:t>Advantages for ER Data</a:t>
            </a:r>
          </a:p>
          <a:p>
            <a:pPr lvl="0"/>
            <a:r>
              <a:rPr b="1"/>
              <a:t>Modular functions</a:t>
            </a:r>
            <a:r>
              <a:rPr/>
              <a:t>: </a:t>
            </a:r>
            <a:r>
              <a:rPr>
                <a:latin typeface="Courier"/>
              </a:rPr>
              <a:t>derive_vars_*</a:t>
            </a:r>
            <a:r>
              <a:rPr/>
              <a:t>, </a:t>
            </a:r>
            <a:r>
              <a:rPr>
                <a:latin typeface="Courier"/>
              </a:rPr>
              <a:t>derive_param_*</a:t>
            </a:r>
          </a:p>
          <a:p>
            <a:pPr lvl="0"/>
            <a:r>
              <a:rPr b="1"/>
              <a:t>Validation built-in</a:t>
            </a:r>
            <a:r>
              <a:rPr/>
              <a:t>: </a:t>
            </a:r>
            <a:r>
              <a:rPr>
                <a:latin typeface="Courier"/>
              </a:rPr>
              <a:t>assert_*</a:t>
            </a:r>
            <a:r>
              <a:rPr/>
              <a:t> functions catch errors early</a:t>
            </a:r>
          </a:p>
          <a:p>
            <a:pPr lvl="0"/>
            <a:r>
              <a:rPr b="1"/>
              <a:t>Metadata integration</a:t>
            </a:r>
            <a:r>
              <a:rPr/>
              <a:t>: Works with {metatools}</a:t>
            </a:r>
          </a:p>
          <a:p>
            <a:pPr lvl="0"/>
            <a:r>
              <a:rPr b="1"/>
              <a:t>Community-driven</a:t>
            </a:r>
            <a:r>
              <a:rPr/>
              <a:t>: Pharmaverse ecosystem</a:t>
            </a:r>
          </a:p>
          <a:p>
            <a:pPr lvl="0"/>
            <a:r>
              <a:rPr b="1"/>
              <a:t>Well-documented</a:t>
            </a:r>
            <a:r>
              <a:rPr/>
              <a:t>: Functions follow consistent patterns</a:t>
            </a:r>
          </a:p>
          <a:p>
            <a:pPr lvl="0"/>
            <a:r>
              <a:rPr b="1"/>
              <a:t>CDISC-aligned</a:t>
            </a:r>
            <a:r>
              <a:rPr/>
              <a:t>: Built with standards in mind</a:t>
            </a:r>
          </a:p>
          <a:p>
            <a:pPr lvl="0" indent="0" marL="0">
              <a:buNone/>
            </a:pPr>
            <a:r>
              <a:rPr b="1"/>
              <a:t>Example Extension</a:t>
            </a:r>
          </a:p>
          <a:p>
            <a:pPr lvl="0" indent="0">
              <a:buNone/>
            </a:pPr>
            <a:r>
              <a:rPr>
                <a:solidFill>
                  <a:srgbClr val="5E5E5E"/>
                </a:solidFill>
                <a:latin typeface="Courier"/>
              </a:rPr>
              <a:t># Hypothetical future function</a:t>
            </a:r>
            <a:br/>
            <a:r>
              <a:rPr>
                <a:solidFill>
                  <a:srgbClr val="003B4F"/>
                </a:solidFill>
                <a:latin typeface="Courier"/>
              </a:rPr>
              <a:t>derive_param_er_response &lt;- </a:t>
            </a:r>
            <a:r>
              <a:rPr b="1">
                <a:solidFill>
                  <a:srgbClr val="003B4F"/>
                </a:solidFill>
                <a:latin typeface="Courier"/>
              </a:rPr>
              <a:t>function</a:t>
            </a:r>
            <a:r>
              <a:rPr>
                <a:solidFill>
                  <a:srgbClr val="003B4F"/>
                </a:solidFill>
                <a:latin typeface="Courier"/>
              </a:rPr>
              <a:t>(</a:t>
            </a:r>
            <a:br/>
            <a:r>
              <a:rPr>
                <a:solidFill>
                  <a:srgbClr val="003B4F"/>
                </a:solidFill>
                <a:latin typeface="Courier"/>
              </a:rPr>
              <a:t>  dataset, exposure_var, outcome_var, </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"tertile"</a:t>
            </a:r>
            <a:r>
              <a:rPr>
                <a:solidFill>
                  <a:srgbClr val="003B4F"/>
                </a:solidFill>
                <a:latin typeface="Courier"/>
              </a:rPr>
              <a:t>, </a:t>
            </a:r>
            <a:r>
              <a:rPr>
                <a:solidFill>
                  <a:srgbClr val="20794D"/>
                </a:solidFill>
                <a:latin typeface="Courier"/>
              </a:rPr>
              <a:t>"quartile"</a:t>
            </a:r>
            <a:r>
              <a:rPr>
                <a:solidFill>
                  <a:srgbClr val="003B4F"/>
                </a:solidFill>
                <a:latin typeface="Courier"/>
              </a:rPr>
              <a:t>, </a:t>
            </a:r>
            <a:r>
              <a:rPr>
                <a:solidFill>
                  <a:srgbClr val="20794D"/>
                </a:solidFill>
                <a:latin typeface="Courier"/>
              </a:rPr>
              <a:t>"continuous"</a:t>
            </a:r>
            <a:r>
              <a:rPr>
                <a:solidFill>
                  <a:srgbClr val="003B4F"/>
                </a:solidFill>
                <a:latin typeface="Courier"/>
              </a:rPr>
              <a:t>)</a:t>
            </a:r>
            <a:br/>
            <a:r>
              <a:rPr>
                <a:solidFill>
                  <a:srgbClr val="003B4F"/>
                </a:solidFill>
                <a:latin typeface="Courier"/>
              </a:rPr>
              <a:t>) { ...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Reproducibility</a:t>
            </a:r>
          </a:p>
        </p:txBody>
      </p:sp>
      <p:sp>
        <p:nvSpPr>
          <p:cNvPr id="3" name="Content Placeholder 2"/>
          <p:cNvSpPr>
            <a:spLocks noGrp="1"/>
          </p:cNvSpPr>
          <p:nvPr>
            <p:ph idx="1"/>
          </p:nvPr>
        </p:nvSpPr>
        <p:spPr/>
        <p:txBody>
          <a:bodyPr/>
          <a:lstStyle/>
          <a:p>
            <a:pPr lvl="0" indent="0" marL="0">
              <a:buNone/>
            </a:pPr>
            <a:r>
              <a:rPr b="1"/>
              <a:t>Before Standardization</a:t>
            </a:r>
          </a:p>
          <a:p>
            <a:pPr lvl="0" indent="0">
              <a:buNone/>
            </a:pPr>
            <a:r>
              <a:rPr>
                <a:solidFill>
                  <a:srgbClr val="5E5E5E"/>
                </a:solidFill>
                <a:latin typeface="Courier"/>
              </a:rPr>
              <a:t># Study A</a:t>
            </a:r>
            <a:br/>
            <a:r>
              <a:rPr>
                <a:solidFill>
                  <a:srgbClr val="003B4F"/>
                </a:solidFill>
                <a:latin typeface="Courier"/>
              </a:rPr>
              <a:t>data</a:t>
            </a:r>
            <a:r>
              <a:rPr>
                <a:solidFill>
                  <a:srgbClr val="5E5E5E"/>
                </a:solidFill>
                <a:latin typeface="Courier"/>
              </a:rPr>
              <a:t>$</a:t>
            </a:r>
            <a:r>
              <a:rPr>
                <a:solidFill>
                  <a:srgbClr val="003B4F"/>
                </a:solidFill>
                <a:latin typeface="Courier"/>
              </a:rPr>
              <a:t>time_days &lt;- </a:t>
            </a:r>
            <a:r>
              <a:rPr>
                <a:solidFill>
                  <a:srgbClr val="4758AB"/>
                </a:solidFill>
                <a:latin typeface="Courier"/>
              </a:rPr>
              <a:t>difftime</a:t>
            </a:r>
            <a:r>
              <a:rPr>
                <a:solidFill>
                  <a:srgbClr val="003B4F"/>
                </a:solidFill>
                <a:latin typeface="Courier"/>
              </a:rPr>
              <a:t>(data</a:t>
            </a:r>
            <a:r>
              <a:rPr>
                <a:solidFill>
                  <a:srgbClr val="5E5E5E"/>
                </a:solidFill>
                <a:latin typeface="Courier"/>
              </a:rPr>
              <a:t>$</a:t>
            </a:r>
            <a:r>
              <a:rPr>
                <a:solidFill>
                  <a:srgbClr val="003B4F"/>
                </a:solidFill>
                <a:latin typeface="Courier"/>
              </a:rPr>
              <a:t>event_dt, data</a:t>
            </a:r>
            <a:r>
              <a:rPr>
                <a:solidFill>
                  <a:srgbClr val="5E5E5E"/>
                </a:solidFill>
                <a:latin typeface="Courier"/>
              </a:rPr>
              <a:t>$</a:t>
            </a:r>
            <a:r>
              <a:rPr>
                <a:solidFill>
                  <a:srgbClr val="003B4F"/>
                </a:solidFill>
                <a:latin typeface="Courier"/>
              </a:rPr>
              <a:t>trt_start, </a:t>
            </a:r>
            <a:r>
              <a:rPr>
                <a:solidFill>
                  <a:srgbClr val="657422"/>
                </a:solidFill>
                <a:latin typeface="Courier"/>
              </a:rPr>
              <a:t>units=</a:t>
            </a:r>
            <a:r>
              <a:rPr>
                <a:solidFill>
                  <a:srgbClr val="20794D"/>
                </a:solidFill>
                <a:latin typeface="Courier"/>
              </a:rPr>
              <a:t>"days"</a:t>
            </a:r>
            <a:r>
              <a:rPr>
                <a:solidFill>
                  <a:srgbClr val="003B4F"/>
                </a:solidFill>
                <a:latin typeface="Courier"/>
              </a:rPr>
              <a:t>)</a:t>
            </a:r>
            <a:br/>
            <a:r>
              <a:rPr>
                <a:solidFill>
                  <a:srgbClr val="003B4F"/>
                </a:solidFill>
                <a:latin typeface="Courier"/>
              </a:rPr>
              <a:t>data</a:t>
            </a:r>
            <a:r>
              <a:rPr>
                <a:solidFill>
                  <a:srgbClr val="5E5E5E"/>
                </a:solidFill>
                <a:latin typeface="Courier"/>
              </a:rPr>
              <a:t>$</a:t>
            </a:r>
            <a:r>
              <a:rPr>
                <a:solidFill>
                  <a:srgbClr val="003B4F"/>
                </a:solidFill>
                <a:latin typeface="Courier"/>
              </a:rPr>
              <a:t>AUC_cat &lt;- </a:t>
            </a:r>
            <a:r>
              <a:rPr>
                <a:solidFill>
                  <a:srgbClr val="4758AB"/>
                </a:solidFill>
                <a:latin typeface="Courier"/>
              </a:rPr>
              <a:t>cut</a:t>
            </a:r>
            <a:r>
              <a:rPr>
                <a:solidFill>
                  <a:srgbClr val="003B4F"/>
                </a:solidFill>
                <a:latin typeface="Courier"/>
              </a:rPr>
              <a:t>(data</a:t>
            </a:r>
            <a:r>
              <a:rPr>
                <a:solidFill>
                  <a:srgbClr val="5E5E5E"/>
                </a:solidFill>
                <a:latin typeface="Courier"/>
              </a:rPr>
              <a:t>$</a:t>
            </a:r>
            <a:r>
              <a:rPr>
                <a:solidFill>
                  <a:srgbClr val="003B4F"/>
                </a:solidFill>
                <a:latin typeface="Courier"/>
              </a:rPr>
              <a:t>AUC, </a:t>
            </a:r>
            <a:r>
              <a:rPr>
                <a:solidFill>
                  <a:srgbClr val="657422"/>
                </a:solidFill>
                <a:latin typeface="Courier"/>
              </a:rPr>
              <a:t>breaks=</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a:t>
            </a:r>
            <a:r>
              <a:rPr>
                <a:solidFill>
                  <a:srgbClr val="AD0000"/>
                </a:solidFill>
                <a:latin typeface="Courier"/>
              </a:rPr>
              <a:t>500</a:t>
            </a:r>
            <a:r>
              <a:rPr>
                <a:solidFill>
                  <a:srgbClr val="003B4F"/>
                </a:solidFill>
                <a:latin typeface="Courier"/>
              </a:rPr>
              <a:t>,</a:t>
            </a:r>
            <a:r>
              <a:rPr>
                <a:solidFill>
                  <a:srgbClr val="AD0000"/>
                </a:solidFill>
                <a:latin typeface="Courier"/>
              </a:rPr>
              <a:t>1000</a:t>
            </a:r>
            <a:r>
              <a:rPr>
                <a:solidFill>
                  <a:srgbClr val="003B4F"/>
                </a:solidFill>
                <a:latin typeface="Courier"/>
              </a:rPr>
              <a:t>,</a:t>
            </a:r>
            <a:r>
              <a:rPr>
                <a:solidFill>
                  <a:srgbClr val="8F5902"/>
                </a:solidFill>
                <a:latin typeface="Courier"/>
              </a:rPr>
              <a:t>Inf</a:t>
            </a:r>
            <a:r>
              <a:rPr>
                <a:solidFill>
                  <a:srgbClr val="003B4F"/>
                </a:solidFill>
                <a:latin typeface="Courier"/>
              </a:rPr>
              <a:t>))</a:t>
            </a:r>
            <a:br/>
            <a:br/>
            <a:r>
              <a:rPr>
                <a:solidFill>
                  <a:srgbClr val="5E5E5E"/>
                </a:solidFill>
                <a:latin typeface="Courier"/>
              </a:rPr>
              <a:t># Study B  </a:t>
            </a:r>
            <a:br/>
            <a:r>
              <a:rPr>
                <a:solidFill>
                  <a:srgbClr val="003B4F"/>
                </a:solidFill>
                <a:latin typeface="Courier"/>
              </a:rPr>
              <a:t>df</a:t>
            </a:r>
            <a:r>
              <a:rPr>
                <a:solidFill>
                  <a:srgbClr val="5E5E5E"/>
                </a:solidFill>
                <a:latin typeface="Courier"/>
              </a:rPr>
              <a:t>$</a:t>
            </a:r>
            <a:r>
              <a:rPr>
                <a:solidFill>
                  <a:srgbClr val="003B4F"/>
                </a:solidFill>
                <a:latin typeface="Courier"/>
              </a:rPr>
              <a:t>tte &lt;- </a:t>
            </a:r>
            <a:r>
              <a:rPr>
                <a:solidFill>
                  <a:srgbClr val="4758AB"/>
                </a:solidFill>
                <a:latin typeface="Courier"/>
              </a:rPr>
              <a:t>as.numeric</a:t>
            </a:r>
            <a:r>
              <a:rPr>
                <a:solidFill>
                  <a:srgbClr val="003B4F"/>
                </a:solidFill>
                <a:latin typeface="Courier"/>
              </a:rPr>
              <a:t>(df</a:t>
            </a:r>
            <a:r>
              <a:rPr>
                <a:solidFill>
                  <a:srgbClr val="5E5E5E"/>
                </a:solidFill>
                <a:latin typeface="Courier"/>
              </a:rPr>
              <a:t>$</a:t>
            </a:r>
            <a:r>
              <a:rPr>
                <a:solidFill>
                  <a:srgbClr val="003B4F"/>
                </a:solidFill>
                <a:latin typeface="Courier"/>
              </a:rPr>
              <a:t>EventDate </a:t>
            </a:r>
            <a:r>
              <a:rPr>
                <a:solidFill>
                  <a:srgbClr val="5E5E5E"/>
                </a:solidFill>
                <a:latin typeface="Courier"/>
              </a:rPr>
              <a:t>-</a:t>
            </a:r>
            <a:r>
              <a:rPr>
                <a:solidFill>
                  <a:srgbClr val="003B4F"/>
                </a:solidFill>
                <a:latin typeface="Courier"/>
              </a:rPr>
              <a:t> df</a:t>
            </a:r>
            <a:r>
              <a:rPr>
                <a:solidFill>
                  <a:srgbClr val="5E5E5E"/>
                </a:solidFill>
                <a:latin typeface="Courier"/>
              </a:rPr>
              <a:t>$</a:t>
            </a:r>
            <a:r>
              <a:rPr>
                <a:solidFill>
                  <a:srgbClr val="003B4F"/>
                </a:solidFill>
                <a:latin typeface="Courier"/>
              </a:rPr>
              <a:t>TreatmentDate) </a:t>
            </a:r>
            <a:r>
              <a:rPr>
                <a:solidFill>
                  <a:srgbClr val="5E5E5E"/>
                </a:solidFill>
                <a:latin typeface="Courier"/>
              </a:rPr>
              <a:t>+</a:t>
            </a:r>
            <a:r>
              <a:rPr>
                <a:solidFill>
                  <a:srgbClr val="003B4F"/>
                </a:solidFill>
                <a:latin typeface="Courier"/>
              </a:rPr>
              <a:t> </a:t>
            </a:r>
            <a:r>
              <a:rPr>
                <a:solidFill>
                  <a:srgbClr val="AD0000"/>
                </a:solidFill>
                <a:latin typeface="Courier"/>
              </a:rPr>
              <a:t>1</a:t>
            </a:r>
            <a:br/>
            <a:r>
              <a:rPr>
                <a:solidFill>
                  <a:srgbClr val="003B4F"/>
                </a:solidFill>
                <a:latin typeface="Courier"/>
              </a:rPr>
              <a:t>df</a:t>
            </a:r>
            <a:r>
              <a:rPr>
                <a:solidFill>
                  <a:srgbClr val="5E5E5E"/>
                </a:solidFill>
                <a:latin typeface="Courier"/>
              </a:rPr>
              <a:t>$</a:t>
            </a:r>
            <a:r>
              <a:rPr>
                <a:solidFill>
                  <a:srgbClr val="003B4F"/>
                </a:solidFill>
                <a:latin typeface="Courier"/>
              </a:rPr>
              <a:t>exposure_grp &lt;- </a:t>
            </a:r>
            <a:r>
              <a:rPr>
                <a:solidFill>
                  <a:srgbClr val="4758AB"/>
                </a:solidFill>
                <a:latin typeface="Courier"/>
              </a:rPr>
              <a:t>ifelse</a:t>
            </a:r>
            <a:r>
              <a:rPr>
                <a:solidFill>
                  <a:srgbClr val="003B4F"/>
                </a:solidFill>
                <a:latin typeface="Courier"/>
              </a:rPr>
              <a:t>(df</a:t>
            </a:r>
            <a:r>
              <a:rPr>
                <a:solidFill>
                  <a:srgbClr val="5E5E5E"/>
                </a:solidFill>
                <a:latin typeface="Courier"/>
              </a:rPr>
              <a:t>$</a:t>
            </a:r>
            <a:r>
              <a:rPr>
                <a:solidFill>
                  <a:srgbClr val="003B4F"/>
                </a:solidFill>
                <a:latin typeface="Courier"/>
              </a:rPr>
              <a:t>auc </a:t>
            </a:r>
            <a:r>
              <a:rPr>
                <a:solidFill>
                  <a:srgbClr val="5E5E5E"/>
                </a:solidFill>
                <a:latin typeface="Courier"/>
              </a:rPr>
              <a:t>&lt;</a:t>
            </a:r>
            <a:r>
              <a:rPr>
                <a:solidFill>
                  <a:srgbClr val="003B4F"/>
                </a:solidFill>
                <a:latin typeface="Courier"/>
              </a:rPr>
              <a:t> </a:t>
            </a:r>
            <a:r>
              <a:rPr>
                <a:solidFill>
                  <a:srgbClr val="4758AB"/>
                </a:solidFill>
                <a:latin typeface="Courier"/>
              </a:rPr>
              <a:t>median</a:t>
            </a:r>
            <a:r>
              <a:rPr>
                <a:solidFill>
                  <a:srgbClr val="003B4F"/>
                </a:solidFill>
                <a:latin typeface="Courier"/>
              </a:rPr>
              <a:t>(df</a:t>
            </a:r>
            <a:r>
              <a:rPr>
                <a:solidFill>
                  <a:srgbClr val="5E5E5E"/>
                </a:solidFill>
                <a:latin typeface="Courier"/>
              </a:rPr>
              <a:t>$</a:t>
            </a:r>
            <a:r>
              <a:rPr>
                <a:solidFill>
                  <a:srgbClr val="003B4F"/>
                </a:solidFill>
                <a:latin typeface="Courier"/>
              </a:rPr>
              <a:t>auc), </a:t>
            </a:r>
            <a:r>
              <a:rPr>
                <a:solidFill>
                  <a:srgbClr val="20794D"/>
                </a:solidFill>
                <a:latin typeface="Courier"/>
              </a:rPr>
              <a:t>"Low"</a:t>
            </a:r>
            <a:r>
              <a:rPr>
                <a:solidFill>
                  <a:srgbClr val="003B4F"/>
                </a:solidFill>
                <a:latin typeface="Courier"/>
              </a:rPr>
              <a:t>, </a:t>
            </a:r>
            <a:r>
              <a:rPr>
                <a:solidFill>
                  <a:srgbClr val="20794D"/>
                </a:solidFill>
                <a:latin typeface="Courier"/>
              </a:rPr>
              <a:t>"High"</a:t>
            </a:r>
            <a:r>
              <a:rPr>
                <a:solidFill>
                  <a:srgbClr val="003B4F"/>
                </a:solidFill>
                <a:latin typeface="Courier"/>
              </a:rPr>
              <a:t>)</a:t>
            </a:r>
          </a:p>
          <a:p>
            <a:pPr lvl="0" indent="0" marL="0">
              <a:buNone/>
            </a:pPr>
            <a:r>
              <a:rPr b="1"/>
              <a:t>After Standardization</a:t>
            </a:r>
          </a:p>
          <a:p>
            <a:pPr lvl="0" indent="0">
              <a:buNone/>
            </a:pPr>
            <a:r>
              <a:rPr>
                <a:solidFill>
                  <a:srgbClr val="5E5E5E"/>
                </a:solidFill>
                <a:latin typeface="Courier"/>
              </a:rPr>
              <a:t># All studies use consistent approach</a:t>
            </a:r>
            <a:br/>
            <a:r>
              <a:rPr>
                <a:solidFill>
                  <a:srgbClr val="003B4F"/>
                </a:solidFill>
                <a:latin typeface="Courier"/>
              </a:rPr>
              <a:t>adee &lt;- </a:t>
            </a:r>
            <a:r>
              <a:rPr>
                <a:solidFill>
                  <a:srgbClr val="4758AB"/>
                </a:solidFill>
                <a:latin typeface="Courier"/>
              </a:rPr>
              <a:t>derive_er_tte_data</a:t>
            </a:r>
            <a:r>
              <a:rPr>
                <a:solidFill>
                  <a:srgbClr val="003B4F"/>
                </a:solidFill>
                <a:latin typeface="Courier"/>
              </a:rPr>
              <a:t>(</a:t>
            </a:r>
            <a:br/>
            <a:r>
              <a:rPr>
                <a:solidFill>
                  <a:srgbClr val="003B4F"/>
                </a:solidFill>
                <a:latin typeface="Courier"/>
              </a:rPr>
              <a:t>  </a:t>
            </a:r>
            <a:r>
              <a:rPr>
                <a:solidFill>
                  <a:srgbClr val="657422"/>
                </a:solidFill>
                <a:latin typeface="Courier"/>
              </a:rPr>
              <a:t>adsl =</a:t>
            </a:r>
            <a:r>
              <a:rPr>
                <a:solidFill>
                  <a:srgbClr val="003B4F"/>
                </a:solidFill>
                <a:latin typeface="Courier"/>
              </a:rPr>
              <a:t> adsl, </a:t>
            </a:r>
            <a:br/>
            <a:r>
              <a:rPr>
                <a:solidFill>
                  <a:srgbClr val="003B4F"/>
                </a:solidFill>
                <a:latin typeface="Courier"/>
              </a:rPr>
              <a:t>  </a:t>
            </a:r>
            <a:r>
              <a:rPr>
                <a:solidFill>
                  <a:srgbClr val="657422"/>
                </a:solidFill>
                <a:latin typeface="Courier"/>
              </a:rPr>
              <a:t>adrs =</a:t>
            </a:r>
            <a:r>
              <a:rPr>
                <a:solidFill>
                  <a:srgbClr val="003B4F"/>
                </a:solidFill>
                <a:latin typeface="Courier"/>
              </a:rPr>
              <a:t> adrs,</a:t>
            </a:r>
            <a:br/>
            <a:r>
              <a:rPr>
                <a:solidFill>
                  <a:srgbClr val="003B4F"/>
                </a:solidFill>
                <a:latin typeface="Courier"/>
              </a:rPr>
              <a:t>  </a:t>
            </a:r>
            <a:r>
              <a:rPr>
                <a:solidFill>
                  <a:srgbClr val="657422"/>
                </a:solidFill>
                <a:latin typeface="Courier"/>
              </a:rPr>
              <a:t>exposure_var =</a:t>
            </a:r>
            <a:r>
              <a:rPr>
                <a:solidFill>
                  <a:srgbClr val="003B4F"/>
                </a:solidFill>
                <a:latin typeface="Courier"/>
              </a:rPr>
              <a:t> </a:t>
            </a:r>
            <a:r>
              <a:rPr>
                <a:solidFill>
                  <a:srgbClr val="20794D"/>
                </a:solidFill>
                <a:latin typeface="Courier"/>
              </a:rPr>
              <a:t>"AUC0_24"</a:t>
            </a:r>
            <a:r>
              <a:rPr>
                <a:solidFill>
                  <a:srgbClr val="003B4F"/>
                </a:solidFill>
                <a:latin typeface="Courier"/>
              </a:rPr>
              <a:t>,</a:t>
            </a:r>
            <a:br/>
            <a:r>
              <a:rPr>
                <a:solidFill>
                  <a:srgbClr val="003B4F"/>
                </a:solidFill>
                <a:latin typeface="Courier"/>
              </a:rPr>
              <a:t>  </a:t>
            </a:r>
            <a:r>
              <a:rPr>
                <a:solidFill>
                  <a:srgbClr val="657422"/>
                </a:solidFill>
                <a:latin typeface="Courier"/>
              </a:rPr>
              <a:t>param =</a:t>
            </a:r>
            <a:r>
              <a:rPr>
                <a:solidFill>
                  <a:srgbClr val="003B4F"/>
                </a:solidFill>
                <a:latin typeface="Courier"/>
              </a:rPr>
              <a:t> </a:t>
            </a:r>
            <a:r>
              <a:rPr>
                <a:solidFill>
                  <a:srgbClr val="20794D"/>
                </a:solidFill>
                <a:latin typeface="Courier"/>
              </a:rPr>
              <a:t>"PFS"</a:t>
            </a:r>
            <a:br/>
            <a:r>
              <a:rPr>
                <a:solidFill>
                  <a:srgbClr val="003B4F"/>
                </a:solidFill>
                <a:latin typeface="Courie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Efficiency</a:t>
            </a:r>
          </a:p>
        </p:txBody>
      </p:sp>
      <p:sp>
        <p:nvSpPr>
          <p:cNvPr id="3" name="Content Placeholder 2"/>
          <p:cNvSpPr>
            <a:spLocks noGrp="1"/>
          </p:cNvSpPr>
          <p:nvPr>
            <p:ph idx="1"/>
          </p:nvPr>
        </p:nvSpPr>
        <p:spPr/>
        <p:txBody>
          <a:bodyPr/>
          <a:lstStyle/>
          <a:p>
            <a:pPr lvl="0" indent="0" marL="0">
              <a:buNone/>
            </a:pPr>
            <a:r>
              <a:rPr b="1"/>
              <a:t>Time Savings</a:t>
            </a:r>
          </a:p>
          <a:p>
            <a:pPr lvl="0"/>
            <a:r>
              <a:rPr/>
              <a:t>Dataset creation: 50% reduction with templates</a:t>
            </a:r>
          </a:p>
          <a:p>
            <a:pPr lvl="0"/>
            <a:r>
              <a:rPr/>
              <a:t>QC: Automated checks via {admiral} assertions</a:t>
            </a:r>
          </a:p>
          <a:p>
            <a:pPr lvl="0"/>
            <a:r>
              <a:rPr/>
              <a:t>Documentation: Metadata-driven specs</a:t>
            </a:r>
          </a:p>
          <a:p>
            <a:pPr lvl="0"/>
            <a:r>
              <a:rPr/>
              <a:t>Onboarding: New analysts can follow patterns</a:t>
            </a:r>
          </a:p>
          <a:p>
            <a:pPr lvl="0" indent="0" marL="0">
              <a:buNone/>
            </a:pPr>
            <a:r>
              <a:rPr b="1"/>
              <a:t>Quality Improvements</a:t>
            </a:r>
          </a:p>
          <a:p>
            <a:pPr lvl="0"/>
            <a:r>
              <a:rPr/>
              <a:t>Fewer manual errors</a:t>
            </a:r>
          </a:p>
          <a:p>
            <a:pPr lvl="0"/>
            <a:r>
              <a:rPr/>
              <a:t>Consistent validation approach</a:t>
            </a:r>
          </a:p>
          <a:p>
            <a:pPr lvl="0"/>
            <a:r>
              <a:rPr/>
              <a:t>Peer review easier</a:t>
            </a:r>
          </a:p>
          <a:p>
            <a:pPr lvl="0"/>
            <a:r>
              <a:rPr/>
              <a:t>Regulatory submissions smoother</a:t>
            </a:r>
          </a:p>
          <a:p>
            <a:pPr lvl="0" indent="0" marL="1270000">
              <a:buNone/>
            </a:pPr>
            <a:r>
              <a:rPr sz="2000"/>
              <a:t>“We reduced our ER dataset programming time from 3 weeks to 1 week per study” - [Example quote]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Path Forward: Community Adoption</a:t>
            </a:r>
          </a:p>
        </p:txBody>
      </p:sp>
      <p:sp>
        <p:nvSpPr>
          <p:cNvPr id="3" name="Content Placeholder 2"/>
          <p:cNvSpPr>
            <a:spLocks noGrp="1"/>
          </p:cNvSpPr>
          <p:nvPr>
            <p:ph idx="1"/>
          </p:nvPr>
        </p:nvSpPr>
        <p:spPr/>
        <p:txBody>
          <a:bodyPr/>
          <a:lstStyle/>
          <a:p>
            <a:pPr lvl="0" indent="0" marL="0">
              <a:buNone/>
            </a:pPr>
            <a:r>
              <a:rPr b="1"/>
              <a:t>What We Need</a:t>
            </a:r>
          </a:p>
          <a:p>
            <a:pPr lvl="0" indent="-342900" marL="342900">
              <a:buAutoNum type="arabicPeriod"/>
            </a:pPr>
            <a:r>
              <a:rPr b="1"/>
              <a:t>Feedback on proposed structures</a:t>
            </a:r>
          </a:p>
          <a:p>
            <a:pPr lvl="1"/>
            <a:r>
              <a:rPr/>
              <a:t>Variable naming conventions</a:t>
            </a:r>
          </a:p>
          <a:p>
            <a:pPr lvl="1"/>
            <a:r>
              <a:rPr/>
              <a:t>Mandatory vs. optional elements</a:t>
            </a:r>
          </a:p>
          <a:p>
            <a:pPr lvl="1"/>
            <a:r>
              <a:rPr/>
              <a:t>Domain-specific needs</a:t>
            </a:r>
          </a:p>
          <a:p>
            <a:pPr lvl="0" indent="-342900" marL="342900">
              <a:buAutoNum type="arabicPeriod"/>
            </a:pPr>
            <a:r>
              <a:rPr b="1"/>
              <a:t>Real-world testing</a:t>
            </a:r>
          </a:p>
          <a:p>
            <a:pPr lvl="1"/>
            <a:r>
              <a:rPr/>
              <a:t>Pilot studies across organizations</a:t>
            </a:r>
          </a:p>
          <a:p>
            <a:pPr lvl="1"/>
            <a:r>
              <a:rPr/>
              <a:t>Edge cases and exceptions</a:t>
            </a:r>
          </a:p>
          <a:p>
            <a:pPr lvl="1"/>
            <a:r>
              <a:rPr/>
              <a:t>Tooling gaps</a:t>
            </a:r>
          </a:p>
          <a:p>
            <a:pPr lvl="0" indent="-342900" marL="342900">
              <a:buAutoNum type="arabicPeriod"/>
            </a:pPr>
            <a:r>
              <a:rPr b="1"/>
              <a:t>Documentation</a:t>
            </a:r>
          </a:p>
          <a:p>
            <a:pPr lvl="1"/>
            <a:r>
              <a:rPr/>
              <a:t>Implementation guides</a:t>
            </a:r>
          </a:p>
          <a:p>
            <a:pPr lvl="1"/>
            <a:r>
              <a:rPr/>
              <a:t>Worked examples</a:t>
            </a:r>
          </a:p>
          <a:p>
            <a:pPr lvl="1"/>
            <a:r>
              <a:rPr/>
              <a:t>Best practices</a:t>
            </a:r>
          </a:p>
          <a:p>
            <a:pPr lvl="0" indent="-342900" marL="342900">
              <a:buAutoNum type="arabicPeriod"/>
            </a:pPr>
            <a:r>
              <a:rPr b="1"/>
              <a:t>Potential formalization</a:t>
            </a:r>
          </a:p>
          <a:p>
            <a:pPr lvl="1"/>
            <a:r>
              <a:rPr/>
              <a:t>Could inform future CDISC guidance</a:t>
            </a:r>
          </a:p>
          <a:p>
            <a:pPr lvl="1"/>
            <a:r>
              <a:rPr/>
              <a:t>Pharmaverse ER working group?</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 Today</a:t>
            </a:r>
          </a:p>
        </p:txBody>
      </p:sp>
      <p:sp>
        <p:nvSpPr>
          <p:cNvPr id="3" name="Content Placeholder 2"/>
          <p:cNvSpPr>
            <a:spLocks noGrp="1"/>
          </p:cNvSpPr>
          <p:nvPr>
            <p:ph idx="1"/>
          </p:nvPr>
        </p:nvSpPr>
        <p:spPr/>
        <p:txBody>
          <a:bodyPr/>
          <a:lstStyle/>
          <a:p>
            <a:pPr lvl="0" indent="0" marL="0">
              <a:buNone/>
            </a:pPr>
            <a:r>
              <a:rPr b="1"/>
              <a:t>Resources Available</a:t>
            </a:r>
          </a:p>
          <a:p>
            <a:pPr lvl="0"/>
            <a:r>
              <a:rPr/>
              <a:t>GitHub repository: [https://github.com/jeffreyad/er-standards]</a:t>
            </a:r>
          </a:p>
          <a:p>
            <a:pPr lvl="0"/>
            <a:r>
              <a:rPr/>
              <a:t>Example datasets and scripts</a:t>
            </a:r>
          </a:p>
          <a:p>
            <a:pPr lvl="0"/>
            <a:r>
              <a:rPr/>
              <a:t>ADaM specifications templates</a:t>
            </a:r>
          </a:p>
          <a:p>
            <a:pPr lvl="0"/>
            <a:r>
              <a:rPr/>
              <a:t>Presentation materials</a:t>
            </a:r>
          </a:p>
          <a:p>
            <a:pPr lvl="0" indent="0" marL="0">
              <a:buNone/>
            </a:pPr>
            <a:r>
              <a:rPr b="1"/>
              <a:t>Try It Yourself</a:t>
            </a:r>
          </a:p>
          <a:p>
            <a:pPr lvl="0" indent="0">
              <a:buNone/>
            </a:pPr>
            <a:r>
              <a:rPr>
                <a:solidFill>
                  <a:srgbClr val="5E5E5E"/>
                </a:solidFill>
                <a:latin typeface="Courier"/>
              </a:rPr>
              <a:t># Install development version</a:t>
            </a:r>
            <a:br/>
            <a:r>
              <a:rPr>
                <a:solidFill>
                  <a:srgbClr val="003B4F"/>
                </a:solidFill>
                <a:latin typeface="Courier"/>
              </a:rPr>
              <a:t>remotes</a:t>
            </a:r>
            <a:r>
              <a:rPr>
                <a:solidFill>
                  <a:srgbClr val="5E5E5E"/>
                </a:solidFill>
                <a:latin typeface="Courier"/>
              </a:rPr>
              <a:t>::</a:t>
            </a:r>
            <a:r>
              <a:rPr>
                <a:solidFill>
                  <a:srgbClr val="4758AB"/>
                </a:solidFill>
                <a:latin typeface="Courier"/>
              </a:rPr>
              <a:t>install_github</a:t>
            </a:r>
            <a:r>
              <a:rPr>
                <a:solidFill>
                  <a:srgbClr val="003B4F"/>
                </a:solidFill>
                <a:latin typeface="Courier"/>
              </a:rPr>
              <a:t>(</a:t>
            </a:r>
            <a:r>
              <a:rPr>
                <a:solidFill>
                  <a:srgbClr val="20794D"/>
                </a:solidFill>
                <a:latin typeface="Courier"/>
              </a:rPr>
              <a:t>"your-username/er-standards-project"</a:t>
            </a:r>
            <a:r>
              <a:rPr>
                <a:solidFill>
                  <a:srgbClr val="003B4F"/>
                </a:solidFill>
                <a:latin typeface="Courier"/>
              </a:rPr>
              <a:t>)</a:t>
            </a:r>
            <a:br/>
            <a:br/>
            <a:r>
              <a:rPr>
                <a:solidFill>
                  <a:srgbClr val="5E5E5E"/>
                </a:solidFill>
                <a:latin typeface="Courier"/>
              </a:rPr>
              <a:t># Run examples</a:t>
            </a:r>
            <a:br/>
            <a:r>
              <a:rPr>
                <a:solidFill>
                  <a:srgbClr val="4758AB"/>
                </a:solidFill>
                <a:latin typeface="Courier"/>
              </a:rPr>
              <a:t>library</a:t>
            </a:r>
            <a:r>
              <a:rPr>
                <a:solidFill>
                  <a:srgbClr val="003B4F"/>
                </a:solidFill>
                <a:latin typeface="Courier"/>
              </a:rPr>
              <a:t>(erstds)</a:t>
            </a:r>
            <a:br/>
            <a:r>
              <a:rPr>
                <a:solidFill>
                  <a:srgbClr val="4758AB"/>
                </a:solidFill>
                <a:latin typeface="Courier"/>
              </a:rPr>
              <a:t>run_ee_example</a:t>
            </a:r>
            <a:r>
              <a:rPr>
                <a:solidFill>
                  <a:srgbClr val="003B4F"/>
                </a:solidFill>
                <a:latin typeface="Courier"/>
              </a:rPr>
              <a:t>()</a:t>
            </a:r>
            <a:br/>
            <a:r>
              <a:rPr>
                <a:solidFill>
                  <a:srgbClr val="4758AB"/>
                </a:solidFill>
                <a:latin typeface="Courier"/>
              </a:rPr>
              <a:t>run_es_example</a:t>
            </a:r>
            <a:r>
              <a:rPr>
                <a:solidFill>
                  <a:srgbClr val="003B4F"/>
                </a:solidFill>
                <a:latin typeface="Courier"/>
              </a:rPr>
              <a:t>()</a:t>
            </a:r>
            <a:br/>
            <a:r>
              <a:rPr>
                <a:solidFill>
                  <a:srgbClr val="4758AB"/>
                </a:solidFill>
                <a:latin typeface="Courier"/>
              </a:rPr>
              <a:t>run_tumor_response_example</a:t>
            </a:r>
            <a:r>
              <a:rPr>
                <a:solidFill>
                  <a:srgbClr val="003B4F"/>
                </a:solidFill>
                <a:latin typeface="Courier"/>
              </a:rPr>
              <a:t>()</a:t>
            </a:r>
          </a:p>
          <a:p>
            <a:pPr lvl="0" indent="0" marL="0">
              <a:buNone/>
            </a:pPr>
            <a:r>
              <a:rPr b="1"/>
              <a:t>Connect</a:t>
            </a:r>
          </a:p>
          <a:p>
            <a:pPr lvl="0"/>
            <a:r>
              <a:rPr/>
              <a:t>Questions: [jeff.dickinson@navitaslifesciences.com]</a:t>
            </a:r>
          </a:p>
          <a:p>
            <a:pPr lvl="0"/>
            <a:r>
              <a:rPr/>
              <a:t>Feedback: [GitHub issues]</a:t>
            </a:r>
          </a:p>
          <a:p>
            <a:pPr lvl="0"/>
            <a:r>
              <a:rPr/>
              <a:t>Collaboration: [Slack/Teams channel]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Takeaways</a:t>
            </a:r>
          </a:p>
        </p:txBody>
      </p:sp>
      <p:sp>
        <p:nvSpPr>
          <p:cNvPr id="3" name="Content Placeholder 2"/>
          <p:cNvSpPr>
            <a:spLocks noGrp="1"/>
          </p:cNvSpPr>
          <p:nvPr>
            <p:ph idx="1"/>
          </p:nvPr>
        </p:nvSpPr>
        <p:spPr/>
        <p:txBody>
          <a:bodyPr/>
          <a:lstStyle/>
          <a:p>
            <a:pPr lvl="0" indent="-342900" marL="342900">
              <a:buAutoNum type="arabicPeriod"/>
            </a:pPr>
            <a:r>
              <a:rPr b="1"/>
              <a:t>ER data needs standardization</a:t>
            </a:r>
            <a:r>
              <a:rPr/>
              <a:t> - current state is inconsistent</a:t>
            </a:r>
          </a:p>
          <a:p>
            <a:pPr lvl="0" indent="-342900" marL="342900">
              <a:buAutoNum type="arabicPeriod"/>
            </a:pPr>
            <a:r>
              <a:rPr b="1"/>
              <a:t>CDISC principles apply</a:t>
            </a:r>
            <a:r>
              <a:rPr/>
              <a:t> - we can extend SDTM-PK patterns</a:t>
            </a:r>
          </a:p>
          <a:p>
            <a:pPr lvl="0" indent="-342900" marL="342900">
              <a:buAutoNum type="arabicPeriod"/>
            </a:pPr>
            <a:r>
              <a:rPr b="1"/>
              <a:t>Three distinct domains</a:t>
            </a:r>
            <a:r>
              <a:rPr/>
              <a:t> - but shared commonalities</a:t>
            </a:r>
          </a:p>
          <a:p>
            <a:pPr lvl="1"/>
            <a:r>
              <a:rPr/>
              <a:t>Exposure-Efficacy: time-to-event</a:t>
            </a:r>
          </a:p>
          <a:p>
            <a:pPr lvl="1"/>
            <a:r>
              <a:rPr/>
              <a:t>Exposure-Safety: event rates</a:t>
            </a:r>
          </a:p>
          <a:p>
            <a:pPr lvl="1"/>
            <a:r>
              <a:rPr/>
              <a:t>Tumor Response: longitudinal measurements</a:t>
            </a:r>
          </a:p>
          <a:p>
            <a:pPr lvl="0" indent="-342900" marL="342900">
              <a:buAutoNum type="arabicPeriod"/>
            </a:pPr>
            <a:r>
              <a:rPr b="1"/>
              <a:t>{admiral} is well-suited</a:t>
            </a:r>
            <a:r>
              <a:rPr/>
              <a:t> - modular, validated, community-supported</a:t>
            </a:r>
          </a:p>
          <a:p>
            <a:pPr lvl="0" indent="-342900" marL="342900">
              <a:buAutoNum type="arabicPeriod"/>
            </a:pPr>
            <a:r>
              <a:rPr b="1"/>
              <a:t>Benefits are real</a:t>
            </a:r>
            <a:r>
              <a:rPr/>
              <a:t> - efficiency, reproducibility, quality</a:t>
            </a:r>
          </a:p>
          <a:p>
            <a:pPr lvl="0" indent="-342900" marL="342900">
              <a:buAutoNum type="arabicPeriod"/>
            </a:pPr>
            <a:r>
              <a:rPr b="1"/>
              <a:t>Community input needed</a:t>
            </a:r>
            <a:r>
              <a:rPr/>
              <a:t> - pilot, refine, formalize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a:t>
            </a:r>
          </a:p>
        </p:txBody>
      </p:sp>
      <p:sp>
        <p:nvSpPr>
          <p:cNvPr id="3" name="Content Placeholder 2"/>
          <p:cNvSpPr>
            <a:spLocks noGrp="1"/>
          </p:cNvSpPr>
          <p:nvPr>
            <p:ph idx="1"/>
          </p:nvPr>
        </p:nvSpPr>
        <p:spPr/>
        <p:txBody>
          <a:bodyPr/>
          <a:lstStyle/>
          <a:p>
            <a:pPr lvl="0" indent="0" marL="0">
              <a:buNone/>
            </a:pPr>
            <a:r>
              <a:rPr b="1"/>
              <a:t>Contact Information</a:t>
            </a:r>
          </a:p>
          <a:p>
            <a:pPr lvl="0"/>
            <a:r>
              <a:rPr/>
              <a:t>Email: jeff.dickinson@navitaslifesciences.com</a:t>
            </a:r>
          </a:p>
          <a:p>
            <a:pPr lvl="0"/>
            <a:r>
              <a:rPr/>
              <a:t>GitHub: [jeffreyad]</a:t>
            </a:r>
          </a:p>
          <a:p>
            <a:pPr lvl="0"/>
            <a:r>
              <a:rPr/>
              <a:t>LinkedIn: [https://www.linkedin.com/in/jeffreyad/]</a:t>
            </a:r>
          </a:p>
          <a:p>
            <a:pPr lvl="0" indent="0" marL="0">
              <a:buNone/>
            </a:pPr>
            <a:r>
              <a:rPr b="1"/>
              <a:t>Resources</a:t>
            </a:r>
          </a:p>
          <a:p>
            <a:pPr lvl="0"/>
            <a:r>
              <a:rPr/>
              <a:t>Repository: [https://github.com/jeffreyad/er-standards]</a:t>
            </a:r>
          </a:p>
          <a:p>
            <a:pPr lvl="0"/>
            <a:r>
              <a:rPr/>
              <a:t>Documentation: [https://github.com/jeffreyad/er-standards/specifications]</a:t>
            </a:r>
          </a:p>
          <a:p>
            <a:pPr lvl="0"/>
            <a:r>
              <a:rPr/>
              <a:t>Pharmaverse: https://pharmaverse.org</a:t>
            </a:r>
          </a:p>
          <a:p>
            <a:pPr lvl="0"/>
            <a:r>
              <a:rPr/>
              <a:t>Examples: https://pharmaverse.github.io/examples/</a:t>
            </a:r>
          </a:p>
          <a:p>
            <a:pPr lvl="0" indent="0" marL="0">
              <a:buNone/>
            </a:pPr>
            <a:r>
              <a:rPr/>
              <a:t>Thank you!</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Slides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SDTM-PK Variables Reference</a:t>
            </a:r>
          </a:p>
        </p:txBody>
      </p:sp>
      <p:sp>
        <p:nvSpPr>
          <p:cNvPr id="4" name="Text Placeholder 3"/>
          <p:cNvSpPr>
            <a:spLocks noGrp="1"/>
          </p:cNvSpPr>
          <p:nvPr>
            <p:ph idx="2" sz="half" type="body"/>
          </p:nvPr>
        </p:nvSpPr>
        <p:spPr/>
        <p:txBody>
          <a:bodyPr/>
          <a:lstStyle/>
          <a:p>
            <a:pPr lvl="0" indent="0" marL="0">
              <a:buNone/>
            </a:pPr>
            <a:r>
              <a:rPr b="1"/>
              <a:t>Key Variables from SDTM-PK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Description</a:t>
                      </a:r>
                    </a:p>
                  </a:txBody>
                  <a:tcPr/>
                </a:tc>
                <a:tc>
                  <a:txBody>
                    <a:bodyPr/>
                    <a:lstStyle/>
                    <a:p>
                      <a:pPr lvl="0" indent="0" marL="0">
                        <a:buNone/>
                      </a:pPr>
                      <a:r>
                        <a:rPr/>
                        <a:t>ER Relevance</a:t>
                      </a:r>
                    </a:p>
                  </a:txBody>
                  <a:tcPr/>
                </a:tc>
              </a:tr>
              <a:tr h="0">
                <a:tc>
                  <a:txBody>
                    <a:bodyPr/>
                    <a:lstStyle/>
                    <a:p>
                      <a:pPr lvl="0" indent="0" marL="0">
                        <a:buNone/>
                      </a:pPr>
                      <a:r>
                        <a:rPr/>
                        <a:t>PCTPT</a:t>
                      </a:r>
                    </a:p>
                  </a:txBody>
                </a:tc>
                <a:tc>
                  <a:txBody>
                    <a:bodyPr/>
                    <a:lstStyle/>
                    <a:p>
                      <a:pPr lvl="0" indent="0" marL="0">
                        <a:buNone/>
                      </a:pPr>
                      <a:r>
                        <a:rPr/>
                        <a:t>Time Point Name</a:t>
                      </a:r>
                    </a:p>
                  </a:txBody>
                </a:tc>
                <a:tc>
                  <a:txBody>
                    <a:bodyPr/>
                    <a:lstStyle/>
                    <a:p>
                      <a:pPr lvl="0" indent="0" marL="0">
                        <a:buNone/>
                      </a:pPr>
                      <a:r>
                        <a:rPr/>
                        <a:t>Timing of outcome assessment</a:t>
                      </a:r>
                    </a:p>
                  </a:txBody>
                </a:tc>
              </a:tr>
              <a:tr h="0">
                <a:tc>
                  <a:txBody>
                    <a:bodyPr/>
                    <a:lstStyle/>
                    <a:p>
                      <a:pPr lvl="0" indent="0" marL="0">
                        <a:buNone/>
                      </a:pPr>
                      <a:r>
                        <a:rPr/>
                        <a:t>PCTPTNUM</a:t>
                      </a:r>
                    </a:p>
                  </a:txBody>
                </a:tc>
                <a:tc>
                  <a:txBody>
                    <a:bodyPr/>
                    <a:lstStyle/>
                    <a:p>
                      <a:pPr lvl="0" indent="0" marL="0">
                        <a:buNone/>
                      </a:pPr>
                      <a:r>
                        <a:rPr/>
                        <a:t>Numeric Time Point</a:t>
                      </a:r>
                    </a:p>
                  </a:txBody>
                </a:tc>
                <a:tc>
                  <a:txBody>
                    <a:bodyPr/>
                    <a:lstStyle/>
                    <a:p>
                      <a:pPr lvl="0" indent="0" marL="0">
                        <a:buNone/>
                      </a:pPr>
                      <a:r>
                        <a:rPr/>
                        <a:t>Analysis visit sequencing</a:t>
                      </a:r>
                    </a:p>
                  </a:txBody>
                </a:tc>
              </a:tr>
              <a:tr h="0">
                <a:tc>
                  <a:txBody>
                    <a:bodyPr/>
                    <a:lstStyle/>
                    <a:p>
                      <a:pPr lvl="0" indent="0" marL="0">
                        <a:buNone/>
                      </a:pPr>
                      <a:r>
                        <a:rPr/>
                        <a:t>PCELTM</a:t>
                      </a:r>
                    </a:p>
                  </a:txBody>
                </a:tc>
                <a:tc>
                  <a:txBody>
                    <a:bodyPr/>
                    <a:lstStyle/>
                    <a:p>
                      <a:pPr lvl="0" indent="0" marL="0">
                        <a:buNone/>
                      </a:pPr>
                      <a:r>
                        <a:rPr/>
                        <a:t>Planned Elapsed Time</a:t>
                      </a:r>
                    </a:p>
                  </a:txBody>
                </a:tc>
                <a:tc>
                  <a:txBody>
                    <a:bodyPr/>
                    <a:lstStyle/>
                    <a:p>
                      <a:pPr lvl="0" indent="0" marL="0">
                        <a:buNone/>
                      </a:pPr>
                      <a:r>
                        <a:rPr/>
                        <a:t>Relative timing calculations</a:t>
                      </a:r>
                    </a:p>
                  </a:txBody>
                </a:tc>
              </a:tr>
              <a:tr h="0">
                <a:tc>
                  <a:txBody>
                    <a:bodyPr/>
                    <a:lstStyle/>
                    <a:p>
                      <a:pPr lvl="0" indent="0" marL="0">
                        <a:buNone/>
                      </a:pPr>
                      <a:r>
                        <a:rPr/>
                        <a:t>PCSTRESN</a:t>
                      </a:r>
                    </a:p>
                  </a:txBody>
                </a:tc>
                <a:tc>
                  <a:txBody>
                    <a:bodyPr/>
                    <a:lstStyle/>
                    <a:p>
                      <a:pPr lvl="0" indent="0" marL="0">
                        <a:buNone/>
                      </a:pPr>
                      <a:r>
                        <a:rPr/>
                        <a:t>Numeric Result</a:t>
                      </a:r>
                    </a:p>
                  </a:txBody>
                </a:tc>
                <a:tc>
                  <a:txBody>
                    <a:bodyPr/>
                    <a:lstStyle/>
                    <a:p>
                      <a:pPr lvl="0" indent="0" marL="0">
                        <a:buNone/>
                      </a:pPr>
                      <a:r>
                        <a:rPr/>
                        <a:t>Maps to AVAL</a:t>
                      </a:r>
                    </a:p>
                  </a:txBody>
                </a:tc>
              </a:tr>
              <a:tr h="0">
                <a:tc>
                  <a:txBody>
                    <a:bodyPr/>
                    <a:lstStyle/>
                    <a:p>
                      <a:pPr lvl="0" indent="0" marL="0">
                        <a:buNone/>
                      </a:pPr>
                      <a:r>
                        <a:rPr/>
                        <a:t>PCSTRESU</a:t>
                      </a:r>
                    </a:p>
                  </a:txBody>
                </a:tc>
                <a:tc>
                  <a:txBody>
                    <a:bodyPr/>
                    <a:lstStyle/>
                    <a:p>
                      <a:pPr lvl="0" indent="0" marL="0">
                        <a:buNone/>
                      </a:pPr>
                      <a:r>
                        <a:rPr/>
                        <a:t>Units</a:t>
                      </a:r>
                    </a:p>
                  </a:txBody>
                </a:tc>
                <a:tc>
                  <a:txBody>
                    <a:bodyPr/>
                    <a:lstStyle/>
                    <a:p>
                      <a:pPr lvl="0" indent="0" marL="0">
                        <a:buNone/>
                      </a:pPr>
                      <a:r>
                        <a:rPr/>
                        <a:t>Maps to AVALU</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Detailed Variable Specifications</a:t>
            </a:r>
          </a:p>
        </p:txBody>
      </p:sp>
      <p:sp>
        <p:nvSpPr>
          <p:cNvPr id="4" name="Text Placeholder 3"/>
          <p:cNvSpPr>
            <a:spLocks noGrp="1"/>
          </p:cNvSpPr>
          <p:nvPr>
            <p:ph idx="2" sz="half" type="body"/>
          </p:nvPr>
        </p:nvSpPr>
        <p:spPr/>
        <p:txBody>
          <a:bodyPr/>
          <a:lstStyle/>
          <a:p>
            <a:pPr lvl="0" indent="0" marL="0">
              <a:buNone/>
            </a:pPr>
            <a:r>
              <a:rPr b="1"/>
              <a:t>Proposed Core Variables for ADEE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Variable</a:t>
                      </a:r>
                    </a:p>
                  </a:txBody>
                  <a:tcPr/>
                </a:tc>
                <a:tc>
                  <a:txBody>
                    <a:bodyPr/>
                    <a:lstStyle/>
                    <a:p>
                      <a:pPr lvl="0" indent="0" marL="0">
                        <a:buNone/>
                      </a:pPr>
                      <a:r>
                        <a:rPr/>
                        <a:t>Type</a:t>
                      </a:r>
                    </a:p>
                  </a:txBody>
                  <a:tcPr/>
                </a:tc>
                <a:tc>
                  <a:txBody>
                    <a:bodyPr/>
                    <a:lstStyle/>
                    <a:p>
                      <a:pPr lvl="0" indent="0" marL="0">
                        <a:buNone/>
                      </a:pPr>
                      <a:r>
                        <a:rPr/>
                        <a:t>Description</a:t>
                      </a:r>
                    </a:p>
                  </a:txBody>
                  <a:tcPr/>
                </a:tc>
                <a:tc>
                  <a:txBody>
                    <a:bodyPr/>
                    <a:lstStyle/>
                    <a:p>
                      <a:pPr lvl="0" indent="0" marL="0">
                        <a:buNone/>
                      </a:pPr>
                      <a:r>
                        <a:rPr/>
                        <a:t>Required?</a:t>
                      </a:r>
                    </a:p>
                  </a:txBody>
                  <a:tcPr/>
                </a:tc>
              </a:tr>
              <a:tr h="0">
                <a:tc>
                  <a:txBody>
                    <a:bodyPr/>
                    <a:lstStyle/>
                    <a:p>
                      <a:pPr lvl="0" indent="0" marL="0">
                        <a:buNone/>
                      </a:pPr>
                      <a:r>
                        <a:rPr/>
                        <a:t>PARAMCD</a:t>
                      </a:r>
                    </a:p>
                  </a:txBody>
                </a:tc>
                <a:tc>
                  <a:txBody>
                    <a:bodyPr/>
                    <a:lstStyle/>
                    <a:p>
                      <a:pPr lvl="0" indent="0" marL="0">
                        <a:buNone/>
                      </a:pPr>
                      <a:r>
                        <a:rPr/>
                        <a:t>Char</a:t>
                      </a:r>
                    </a:p>
                  </a:txBody>
                </a:tc>
                <a:tc>
                  <a:txBody>
                    <a:bodyPr/>
                    <a:lstStyle/>
                    <a:p>
                      <a:pPr lvl="0" indent="0" marL="0">
                        <a:buNone/>
                      </a:pPr>
                      <a:r>
                        <a:rPr/>
                        <a:t>Parameter Code (e.g., “PFS”, “OS”)</a:t>
                      </a:r>
                    </a:p>
                  </a:txBody>
                </a:tc>
                <a:tc>
                  <a:txBody>
                    <a:bodyPr/>
                    <a:lstStyle/>
                    <a:p>
                      <a:pPr lvl="0" indent="0" marL="0">
                        <a:buNone/>
                      </a:pPr>
                      <a:r>
                        <a:rPr/>
                        <a:t>Yes</a:t>
                      </a:r>
                    </a:p>
                  </a:txBody>
                </a:tc>
              </a:tr>
              <a:tr h="0">
                <a:tc>
                  <a:txBody>
                    <a:bodyPr/>
                    <a:lstStyle/>
                    <a:p>
                      <a:pPr lvl="0" indent="0" marL="0">
                        <a:buNone/>
                      </a:pPr>
                      <a:r>
                        <a:rPr/>
                        <a:t>AVAL</a:t>
                      </a:r>
                    </a:p>
                  </a:txBody>
                </a:tc>
                <a:tc>
                  <a:txBody>
                    <a:bodyPr/>
                    <a:lstStyle/>
                    <a:p>
                      <a:pPr lvl="0" indent="0" marL="0">
                        <a:buNone/>
                      </a:pPr>
                      <a:r>
                        <a:rPr/>
                        <a:t>Num</a:t>
                      </a:r>
                    </a:p>
                  </a:txBody>
                </a:tc>
                <a:tc>
                  <a:txBody>
                    <a:bodyPr/>
                    <a:lstStyle/>
                    <a:p>
                      <a:pPr lvl="0" indent="0" marL="0">
                        <a:buNone/>
                      </a:pPr>
                      <a:r>
                        <a:rPr/>
                        <a:t>Analysis Value (days)</a:t>
                      </a:r>
                    </a:p>
                  </a:txBody>
                </a:tc>
                <a:tc>
                  <a:txBody>
                    <a:bodyPr/>
                    <a:lstStyle/>
                    <a:p>
                      <a:pPr lvl="0" indent="0" marL="0">
                        <a:buNone/>
                      </a:pPr>
                      <a:r>
                        <a:rPr/>
                        <a:t>Yes</a:t>
                      </a:r>
                    </a:p>
                  </a:txBody>
                </a:tc>
              </a:tr>
              <a:tr h="0">
                <a:tc>
                  <a:txBody>
                    <a:bodyPr/>
                    <a:lstStyle/>
                    <a:p>
                      <a:pPr lvl="0" indent="0" marL="0">
                        <a:buNone/>
                      </a:pPr>
                      <a:r>
                        <a:rPr/>
                        <a:t>CNSR</a:t>
                      </a:r>
                    </a:p>
                  </a:txBody>
                </a:tc>
                <a:tc>
                  <a:txBody>
                    <a:bodyPr/>
                    <a:lstStyle/>
                    <a:p>
                      <a:pPr lvl="0" indent="0" marL="0">
                        <a:buNone/>
                      </a:pPr>
                      <a:r>
                        <a:rPr/>
                        <a:t>Num</a:t>
                      </a:r>
                    </a:p>
                  </a:txBody>
                </a:tc>
                <a:tc>
                  <a:txBody>
                    <a:bodyPr/>
                    <a:lstStyle/>
                    <a:p>
                      <a:pPr lvl="0" indent="0" marL="0">
                        <a:buNone/>
                      </a:pPr>
                      <a:r>
                        <a:rPr/>
                        <a:t>Censoring (1=censored, 0=event)</a:t>
                      </a:r>
                    </a:p>
                  </a:txBody>
                </a:tc>
                <a:tc>
                  <a:txBody>
                    <a:bodyPr/>
                    <a:lstStyle/>
                    <a:p>
                      <a:pPr lvl="0" indent="0" marL="0">
                        <a:buNone/>
                      </a:pPr>
                      <a:r>
                        <a:rPr/>
                        <a:t>Yes</a:t>
                      </a:r>
                    </a:p>
                  </a:txBody>
                </a:tc>
              </a:tr>
              <a:tr h="0">
                <a:tc>
                  <a:txBody>
                    <a:bodyPr/>
                    <a:lstStyle/>
                    <a:p>
                      <a:pPr lvl="0" indent="0" marL="0">
                        <a:buNone/>
                      </a:pPr>
                      <a:r>
                        <a:rPr/>
                        <a:t>ADT</a:t>
                      </a:r>
                    </a:p>
                  </a:txBody>
                </a:tc>
                <a:tc>
                  <a:txBody>
                    <a:bodyPr/>
                    <a:lstStyle/>
                    <a:p>
                      <a:pPr lvl="0" indent="0" marL="0">
                        <a:buNone/>
                      </a:pPr>
                      <a:r>
                        <a:rPr/>
                        <a:t>Date</a:t>
                      </a:r>
                    </a:p>
                  </a:txBody>
                </a:tc>
                <a:tc>
                  <a:txBody>
                    <a:bodyPr/>
                    <a:lstStyle/>
                    <a:p>
                      <a:pPr lvl="0" indent="0" marL="0">
                        <a:buNone/>
                      </a:pPr>
                      <a:r>
                        <a:rPr/>
                        <a:t>Analysis Date</a:t>
                      </a:r>
                    </a:p>
                  </a:txBody>
                </a:tc>
                <a:tc>
                  <a:txBody>
                    <a:bodyPr/>
                    <a:lstStyle/>
                    <a:p>
                      <a:pPr lvl="0" indent="0" marL="0">
                        <a:buNone/>
                      </a:pPr>
                      <a:r>
                        <a:rPr/>
                        <a:t>Yes</a:t>
                      </a:r>
                    </a:p>
                  </a:txBody>
                </a:tc>
              </a:tr>
              <a:tr h="0">
                <a:tc>
                  <a:txBody>
                    <a:bodyPr/>
                    <a:lstStyle/>
                    <a:p>
                      <a:pPr lvl="0" indent="0" marL="0">
                        <a:buNone/>
                      </a:pPr>
                      <a:r>
                        <a:rPr/>
                        <a:t>EXPOSURE_VAR</a:t>
                      </a:r>
                    </a:p>
                  </a:txBody>
                </a:tc>
                <a:tc>
                  <a:txBody>
                    <a:bodyPr/>
                    <a:lstStyle/>
                    <a:p>
                      <a:pPr lvl="0" indent="0" marL="0">
                        <a:buNone/>
                      </a:pPr>
                      <a:r>
                        <a:rPr/>
                        <a:t>Num</a:t>
                      </a:r>
                    </a:p>
                  </a:txBody>
                </a:tc>
                <a:tc>
                  <a:txBody>
                    <a:bodyPr/>
                    <a:lstStyle/>
                    <a:p>
                      <a:pPr lvl="0" indent="0" marL="0">
                        <a:buNone/>
                      </a:pPr>
                      <a:r>
                        <a:rPr/>
                        <a:t>Exposure metric</a:t>
                      </a:r>
                    </a:p>
                  </a:txBody>
                </a:tc>
                <a:tc>
                  <a:txBody>
                    <a:bodyPr/>
                    <a:lstStyle/>
                    <a:p>
                      <a:pPr lvl="0" indent="0" marL="0">
                        <a:buNone/>
                      </a:pPr>
                      <a:r>
                        <a:rPr/>
                        <a:t>Yes</a:t>
                      </a:r>
                    </a:p>
                  </a:txBody>
                </a:tc>
              </a:tr>
              <a:tr h="0">
                <a:tc>
                  <a:txBody>
                    <a:bodyPr/>
                    <a:lstStyle/>
                    <a:p>
                      <a:pPr lvl="0" indent="0" marL="0">
                        <a:buNone/>
                      </a:pPr>
                      <a:r>
                        <a:rPr/>
                        <a:t>EXPOSURE_CAT</a:t>
                      </a:r>
                    </a:p>
                  </a:txBody>
                </a:tc>
                <a:tc>
                  <a:txBody>
                    <a:bodyPr/>
                    <a:lstStyle/>
                    <a:p>
                      <a:pPr lvl="0" indent="0" marL="0">
                        <a:buNone/>
                      </a:pPr>
                      <a:r>
                        <a:rPr/>
                        <a:t>Char</a:t>
                      </a:r>
                    </a:p>
                  </a:txBody>
                </a:tc>
                <a:tc>
                  <a:txBody>
                    <a:bodyPr/>
                    <a:lstStyle/>
                    <a:p>
                      <a:pPr lvl="0" indent="0" marL="0">
                        <a:buNone/>
                      </a:pPr>
                      <a:r>
                        <a:rPr/>
                        <a:t>Categorized exposure</a:t>
                      </a:r>
                    </a:p>
                  </a:txBody>
                </a:tc>
                <a:tc>
                  <a:txBody>
                    <a:bodyPr/>
                    <a:lstStyle/>
                    <a:p>
                      <a:pPr lvl="0" indent="0" marL="0">
                        <a:buNone/>
                      </a:pPr>
                      <a:r>
                        <a:rPr/>
                        <a:t>No</a:t>
                      </a:r>
                    </a:p>
                  </a:txBody>
                </a:tc>
              </a:tr>
              <a:tr h="0">
                <a:tc>
                  <a:txBody>
                    <a:bodyPr/>
                    <a:lstStyle/>
                    <a:p>
                      <a:pPr lvl="0" indent="0" marL="0">
                        <a:buNone/>
                      </a:pPr>
                      <a:r>
                        <a:rPr/>
                        <a:t>ANL01FL</a:t>
                      </a:r>
                    </a:p>
                  </a:txBody>
                </a:tc>
                <a:tc>
                  <a:txBody>
                    <a:bodyPr/>
                    <a:lstStyle/>
                    <a:p>
                      <a:pPr lvl="0" indent="0" marL="0">
                        <a:buNone/>
                      </a:pPr>
                      <a:r>
                        <a:rPr/>
                        <a:t>Char</a:t>
                      </a:r>
                    </a:p>
                  </a:txBody>
                </a:tc>
                <a:tc>
                  <a:txBody>
                    <a:bodyPr/>
                    <a:lstStyle/>
                    <a:p>
                      <a:pPr lvl="0" indent="0" marL="0">
                        <a:buNone/>
                      </a:pPr>
                      <a:r>
                        <a:rPr/>
                        <a:t>Primary analysis flag</a:t>
                      </a:r>
                    </a:p>
                  </a:txBody>
                </a:tc>
                <a:tc>
                  <a:txBody>
                    <a:bodyPr/>
                    <a:lstStyle/>
                    <a:p>
                      <a:pPr lvl="0" indent="0" marL="0">
                        <a:buNone/>
                      </a:pPr>
                      <a:r>
                        <a:rPr/>
                        <a:t>Yes</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Backup: Handling Edge Cases</a:t>
            </a:r>
          </a:p>
        </p:txBody>
      </p:sp>
      <p:sp>
        <p:nvSpPr>
          <p:cNvPr id="3" name="Content Placeholder 2"/>
          <p:cNvSpPr>
            <a:spLocks noGrp="1"/>
          </p:cNvSpPr>
          <p:nvPr>
            <p:ph idx="1"/>
          </p:nvPr>
        </p:nvSpPr>
        <p:spPr/>
        <p:txBody>
          <a:bodyPr/>
          <a:lstStyle/>
          <a:p>
            <a:pPr lvl="0" indent="0" marL="0">
              <a:buNone/>
            </a:pPr>
            <a:r>
              <a:rPr b="1"/>
              <a:t>Common Challenges</a:t>
            </a:r>
          </a:p>
          <a:p>
            <a:pPr lvl="0" indent="-342900" marL="342900">
              <a:buAutoNum type="arabicPeriod"/>
            </a:pPr>
            <a:r>
              <a:rPr b="1"/>
              <a:t>Missing Exposure Data</a:t>
            </a:r>
          </a:p>
          <a:p>
            <a:pPr lvl="1"/>
            <a:r>
              <a:rPr/>
              <a:t>Imputation strategies</a:t>
            </a:r>
          </a:p>
          <a:p>
            <a:pPr lvl="1"/>
            <a:r>
              <a:rPr/>
              <a:t>Sensitivity analyses</a:t>
            </a:r>
          </a:p>
          <a:p>
            <a:pPr lvl="1"/>
            <a:r>
              <a:rPr/>
              <a:t>Flagging for exclusion</a:t>
            </a:r>
          </a:p>
          <a:p>
            <a:pPr lvl="0" indent="-342900" marL="342900">
              <a:buAutoNum type="arabicPeriod"/>
            </a:pPr>
            <a:r>
              <a:rPr b="1"/>
              <a:t>Competing Risks</a:t>
            </a:r>
            <a:r>
              <a:rPr/>
              <a:t> (EE)</a:t>
            </a:r>
          </a:p>
          <a:p>
            <a:pPr lvl="1"/>
            <a:r>
              <a:rPr/>
              <a:t>Death vs. progression</a:t>
            </a:r>
          </a:p>
          <a:p>
            <a:pPr lvl="1"/>
            <a:r>
              <a:rPr/>
              <a:t>Multiple event types</a:t>
            </a:r>
          </a:p>
          <a:p>
            <a:pPr lvl="0" indent="-342900" marL="342900">
              <a:buAutoNum type="arabicPeriod"/>
            </a:pPr>
            <a:r>
              <a:rPr b="1"/>
              <a:t>Time-Varying Exposure</a:t>
            </a:r>
            <a:r>
              <a:rPr/>
              <a:t> (ES)</a:t>
            </a:r>
          </a:p>
          <a:p>
            <a:pPr lvl="1"/>
            <a:r>
              <a:rPr/>
              <a:t>Dose changes</a:t>
            </a:r>
          </a:p>
          <a:p>
            <a:pPr lvl="1"/>
            <a:r>
              <a:rPr/>
              <a:t>Cumulative exposure</a:t>
            </a:r>
          </a:p>
          <a:p>
            <a:pPr lvl="0" indent="-342900" marL="342900">
              <a:buAutoNum type="arabicPeriod"/>
            </a:pPr>
            <a:r>
              <a:rPr b="1"/>
              <a:t>Unscheduled Assessments</a:t>
            </a:r>
            <a:r>
              <a:rPr/>
              <a:t> (Tumor)</a:t>
            </a:r>
          </a:p>
          <a:p>
            <a:pPr lvl="1"/>
            <a:r>
              <a:rPr/>
              <a:t>Off-schedule scans</a:t>
            </a:r>
          </a:p>
          <a:p>
            <a:pPr lvl="1"/>
            <a:r>
              <a:rPr/>
              <a:t>Response confirmation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Acknowledgments</a:t>
            </a:r>
          </a:p>
        </p:txBody>
      </p:sp>
      <p:sp>
        <p:nvSpPr>
          <p:cNvPr id="3" name="Content Placeholder 2"/>
          <p:cNvSpPr>
            <a:spLocks noGrp="1"/>
          </p:cNvSpPr>
          <p:nvPr>
            <p:ph idx="1"/>
          </p:nvPr>
        </p:nvSpPr>
        <p:spPr/>
        <p:txBody>
          <a:bodyPr/>
          <a:lstStyle/>
          <a:p>
            <a:pPr lvl="0" indent="0" marL="0">
              <a:buNone/>
            </a:pPr>
            <a:r>
              <a:rPr/>
              <a:t>Synthetic data and code examples were developed with assistance from Claude (Anthropic, 2024), an AI assistant. All code was reviewed, tested, and validated by the author. Any errors or omissions are the responsibility of the author.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Standardizing Exposure-Response Data for Modeling and Simulation</dc:title>
  <dc:creator>Jeff Dickinson</dc:creator>
  <cp:keywords/>
  <dcterms:created xsi:type="dcterms:W3CDTF">2026-01-27T16:53:51Z</dcterms:created>
  <dcterms:modified xsi:type="dcterms:W3CDTF">2026-01-27T16:53:51Z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2026-01-27</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institute">
    <vt:lpwstr>Navitas Data Sciences</vt:lpwstr>
  </property>
  <property fmtid="{D5CDD505-2E9C-101B-9397-08002B2CF9AE}" pid="12" name="institutes">
    <vt:lpwstr/>
  </property>
  <property fmtid="{D5CDD505-2E9C-101B-9397-08002B2CF9AE}" pid="13" name="labels">
    <vt:lpwstr/>
  </property>
  <property fmtid="{D5CDD505-2E9C-101B-9397-08002B2CF9AE}" pid="14" name="subtitle">
    <vt:lpwstr>Using CDISC Principles and {admiral}</vt:lpwstr>
  </property>
  <property fmtid="{D5CDD505-2E9C-101B-9397-08002B2CF9AE}" pid="15" name="toc-title">
    <vt:lpwstr>Table of contents</vt:lpwstr>
  </property>
</Properties>
</file>