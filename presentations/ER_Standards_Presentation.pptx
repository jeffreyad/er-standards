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Relationship Id="rId23" Type="http://schemas.openxmlformats.org/officeDocument/2006/relationships/slide" Target="slides/slide16.xml"/>
<Relationship Id="rId24" Type="http://schemas.openxmlformats.org/officeDocument/2006/relationships/slide" Target="slides/slide17.xml"/>
<Relationship Id="rId25" Type="http://schemas.openxmlformats.org/officeDocument/2006/relationships/slide" Target="slides/slide18.xml"/>
<Relationship Id="rId26" Type="http://schemas.openxmlformats.org/officeDocument/2006/relationships/slide" Target="slides/slide19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Standardizing Exposure-Response Data for Modeling and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Using CDISC Principles and {admiral}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Jeffrey A. Dickinson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Navitas Data Sciences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PHUSE US Connect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The Challenge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ER modeling critical for drug development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Datasets lack standardization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CDISC SDTM-PK exists, but no ER equivalent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Inconsistent structures hinder reproducibility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Limited exposure metrics (typically 3-5 variables)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Our Approach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Extend CDISC principles to ER data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Four specialized datasets: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- ADER: Exposure foundation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- ADEE: Exposure-Efficacy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- ADES: Exposure-Safety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- ADTRR: Tumor Response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Use pharmaverseadam example data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Comprehensive exposure coverage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Full CDISC compliance (8-character limit)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The ER Modeling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What is Exposure-Response Analysis?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Quantifies relationship between drug exposure (PK) and outcomes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Key questions: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- What exposure achieves target efficacy?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- What exposure level increases toxicity risk?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- How do we optimize dosing for subpopulations?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Current State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Each analysis starts from scratch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Variable naming inconsistent (AUC, AUC_SS, AUCSS, AUC0_24)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Limited transformations available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Difficult to share methodologies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QC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Why Standards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Consistency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Same structure across studies and organizations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Traceability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Clear lineage from raw data → analysis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Reproducibility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Others can verify and extend your work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Efficiency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Reusable code and workflows; 50-80% time reduction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Regulatory Clarity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Easier to document and defend analyses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Comprehensive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Multiple exposure transformations vs. limited traditional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Four ER Datasets: Overview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 rot="-0">
          <a:off x="457200" y="1600200"/>
          <a:ext cx="8229600" cy="4525963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31490">
                <a:tc>
                  <a:txBody>
                    <a:bodyPr/>
                    <a:lstStyle/>
                    <a:p>
                      <a:pPr algn="r"/>
                      <a:r>
                        <a:t>Dataset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Purpose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Key Features</a:t>
                      </a:r>
                    </a:p>
                  </a:txBody>
                </a:tc>
              </a:tr>
              <a:tr h="1131490">
                <a:tc>
                  <a:txBody>
                    <a:bodyPr/>
                    <a:lstStyle/>
                    <a:p>
                      <a:pPr algn="r"/>
                      <a:r>
                        <a:t>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Exposure foundation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Subject-level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Comprehensive exposure metrics</a:t>
                      </a:r>
                    </a:p>
                  </a:txBody>
                </a:tc>
              </a:tr>
              <a:tr h="1131490">
                <a:tc>
                  <a:txBody>
                    <a:bodyPr/>
                    <a:lstStyle/>
                    <a:p>
                      <a:pPr algn="r"/>
                      <a:r>
                        <a:t>ADEE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Time-to-event efficacy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BDS (one/subj/param)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AVAL, CNSR, EVENT</a:t>
                      </a:r>
                    </a:p>
                  </a:txBody>
                </a:tc>
              </a:tr>
              <a:tr h="1131490">
                <a:tc>
                  <a:txBody>
                    <a:bodyPr/>
                    <a:lstStyle/>
                    <a:p>
                      <a:pPr algn="r"/>
                      <a:r>
                        <a:t>ADES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Safety events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BDS + OCCDS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ASEV, AEREL, multi-level</a:t>
                      </a:r>
                    </a:p>
                  </a:txBody>
                </a:tc>
              </a:tr>
              <a:tr h="1131490">
                <a:tc>
                  <a:txBody>
                    <a:bodyPr/>
                    <a:lstStyle/>
                    <a:p>
                      <a:pPr algn="r"/>
                      <a:r>
                        <a:t>ADTRR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Tumor 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BDS with visits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AVAL, CHG, PCHG, RECIST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ADER: Exposure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Source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pharmaverseadam::adpp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AUCLST parameter extracted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Exposure Transformations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Raw Metrics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AUCSS, CMAXSS, CAVGSS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Log-Transformed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AUCSLOG, CMXSLOG, CAVGLOG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Standardized (Z-scores)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AUCSSSTD, CMXSSSTD, CAVGSTD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Normalized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AUCSSN, CMAXSSN, CAVGSSN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Dose-Normalized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AUCSSDOS, CMXSSDOS, CAVGDOS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Categorical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AUCSSCAT, AUCSCATN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CMXSSCAT, CMXSCATN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Baseline Covariates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Vitals, renal, hepatic function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Performance status, demographics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Comprehensive pre-computed transformations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All follow 8-character limit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8-Character Compliance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1887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CDISC ADaM Requirement: Variable names ≤ 8 characters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graphicFrame>
        <p:nvGraphicFramePr>
          <p:cNvPr id="4" name=""/>
          <p:cNvGraphicFramePr>
            <a:graphicFrameLocks noGrp="1"/>
          </p:cNvGraphicFramePr>
          <p:nvPr>
            <p:ph/>
          </p:nvPr>
        </p:nvGraphicFramePr>
        <p:xfrm rot="-0">
          <a:off x="457200" y="1828800"/>
          <a:ext cx="8229600" cy="22860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t>Traditional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Updated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Rationale</a:t>
                      </a:r>
                    </a:p>
                  </a:txBody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t>AUCSSLOG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AUCSLOG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Removed one S</a:t>
                      </a:r>
                    </a:p>
                  </a:txBody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t>CMAXSSLOG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CMXSLOG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Abbreviated CMAX</a:t>
                      </a:r>
                    </a:p>
                  </a:txBody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t>CAVGSSLOG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CAVGLOG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Removed SS</a:t>
                      </a:r>
                    </a:p>
                  </a:txBody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t>CMAXSSSTD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CMXSSSTD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Abbreviated CMAX</a:t>
                      </a:r>
                    </a:p>
                  </a:txBody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t>AUCSSDOSE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AUCSSDOS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Removed E</a:t>
                      </a:r>
                    </a:p>
                  </a:txBody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t>CMAXSSDOSE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CMXSSDOS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Abbreviated + removed 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457200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All variables comply with 8-character limit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Systematic abbreviation rules documented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Labels provide full descriptions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ADEE: Exposure-Efficacy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Use Case: Time-to-Event Analyses with Exposure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Key Dataset Features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One record per subject per parameter (OS, PFS, TTP, TTNT)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AVAL = time from treatment start (days)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CNSR = censoring indicator (1=censored, 0=event)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EVENT = event indicator (1=event, 0=censored)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No ATPT/AVISIT (not standard for time-to-event)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All exposure metrics from ADER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Baseline covariates from ADER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Ready for modeling: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>  coxph(Surv(AVAL, EVENT) ~ AUCSSSTD + AGE + SEX)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>  survfit(Surv(AVAL, EVENT) ~ AUCSSCAT)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Multiple exposure representations enable flexible E-R exploration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ADES: Exposure-Safety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Use Case: Adverse Event Analyses with Exposure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Multi-Level Structure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Subject-level parameters (TEAE, TEAESEV, TESAE)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Event-level individual AE records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Key Variables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CC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ASEV/ASEVN: Severity (MILD/MODERATE/SEVERE)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AERELN: Relationship (0-4 numeric scale)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All exposure metrics available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Design Decision: ASEV vs AETOXGR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Uses severity (pharmaverseadam convention)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Broader applicability than toxicity grades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Maps to regulatory serious criteria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Supports summary statistics and detailed event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ADES: Severity Variables (ASEV not AETOXGR)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457200" y="1371600"/>
          <a:ext cx="8229600" cy="18288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r"/>
                      <a:r>
                        <a:t>Aspect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ASEV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AETOXGR</a:t>
                      </a:r>
                    </a:p>
                  </a:txBody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ASEV/ASEVN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AETOXGR/AETOXGRN</a:t>
                      </a:r>
                    </a:p>
                  </a:txBody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t>Values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MILD (1), MODERATE (2), SEVERE (3)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Grade 1-5 (CTCAE)</a:t>
                      </a:r>
                    </a:p>
                  </a:txBody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3-level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5-level</a:t>
                      </a:r>
                    </a:p>
                  </a:txBody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All AEs (all therapeutic areas)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Oncology toxicities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3657600"/>
            <a:ext cx="8229600" cy="22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Why ASEV/ASEVN?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Follows pharmaverseadam conventions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Broader applicability (all AEs, not just toxicities)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Simpler 3-level scale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SEVERE maps to regulatory 'serious' criteria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For oncology requiring CTCAE grades: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→ Derive AETOXGR from ASEV + AE characteristics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ADTRR: Tumor Response for E-R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Use Case: Longitudinal Tumor Measurements with RECIST 1.1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Key Features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Repeated measures structure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Three parameters: TSIZE, BOR, NADIR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Baseline normalization (BASE, CHG, PCHG)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RECIST 1.1 categorical response (CR/PR/SD/PD)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All exposure metrics available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8-Character Compliance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NADPCHG: Percent change from nadir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BORN: Numeric BOR (4=CR, 3=PR, 2=SD, 1=PD)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Visualization Support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Waterfall plots (best % change)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Spider plots (individual trajectories)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Time-to-response, mixed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Common Patterns Across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Unified Foundation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All datasets built on ADER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Same exposure transformations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Shared baseline covariates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Time Variables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ADT: Analysis date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ADY: Study day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AVAL: Numeric outcome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Analysis Flags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ANL01FL: Primary analysis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ANL02FL: Sensitivity analyses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CDISC Compliance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All variables ≤ 8 characters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Systematic abbreviation rules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Full metadata integration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Implementation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{admiral} modular functions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pharmaverseadam example data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Shared utility functions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Benefits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Code reuse across studies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Consistent validation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50-80% efficiency gains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Why {admiral} and pharmaverseadam?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{admiral} Advantages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Modular functions: derive_vars_*, derive_param_*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Validation built-in: assert_* functions catch errors early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Metadata integration: Works with {metacore}, {xportr}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Community-driven: Pharmaverse ecosystem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CDISC-aligned: Built with standards in mind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pharmaverseadam Benefits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Real example data: ADPP with actual PK parameters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CDISC compliant: All datasets follow ADaM standards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Ready to use: Extract AUCLST as AUCSS foundation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Demonstrates real-world applicability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Benefits: Comprehensive Exposure Metrics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457200" y="1371600"/>
          <a:ext cx="8229600" cy="13716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r"/>
                      <a:r>
                        <a:t>Approach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Examples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Traditional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AUC, CMAX, CAVG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New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Comprehensive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Raw, Log, Standardized, Normalized, Dose-normalized, Categorical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3200400"/>
            <a:ext cx="8229600" cy="274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Pre-Computed Transformations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Raw: AUCSS, CMAXSS, CAVGSS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Log-transformed: AUCSLOG, CMXSLOG, CAVGLOG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Standardized: AUCSSSTD, CMXSSSTD (Z-scores)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Normalized: AUCSSN, CMAXSSN (mean = 1)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Dose-normalized: AUCSSDOS, CMXSSDOS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Categorical: AUCSSCAT, CMXSSCAT (tertiles)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Analysts can immediately test multiple E-R representations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No recoding needed in analysis scripts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Promotes exploration of optimal E-R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Comparison with Traditional Approach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457200" y="1371600"/>
          <a:ext cx="8229600" cy="32004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33400">
                <a:tc>
                  <a:txBody>
                    <a:bodyPr/>
                    <a:lstStyle/>
                    <a:p>
                      <a:pPr algn="r"/>
                      <a:r>
                        <a:t>Feature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Traditional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New Framework</a:t>
                      </a:r>
                    </a:p>
                  </a:txBody>
                </a:tc>
              </a:tr>
              <a:tr h="533400">
                <a:tc>
                  <a:txBody>
                    <a:bodyPr/>
                    <a:lstStyle/>
                    <a:p>
                      <a:pPr algn="r"/>
                      <a:r>
                        <a:t>Exposure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Comprehensive</a:t>
                      </a:r>
                    </a:p>
                  </a:txBody>
                </a:tc>
              </a:tr>
              <a:tr h="533400">
                <a:tc>
                  <a:txBody>
                    <a:bodyPr/>
                    <a:lstStyle/>
                    <a:p>
                      <a:pPr algn="r"/>
                      <a:r>
                        <a:t>Variable naming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Inconsistent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CDISC compliant</a:t>
                      </a:r>
                    </a:p>
                  </a:txBody>
                </a:tc>
              </a:tr>
              <a:tr h="533400">
                <a:tc>
                  <a:txBody>
                    <a:bodyPr/>
                    <a:lstStyle/>
                    <a:p>
                      <a:pPr algn="r"/>
                      <a:r>
                        <a:t>Transformations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Pre-computed</a:t>
                      </a:r>
                    </a:p>
                  </a:txBody>
                </a:tc>
              </a:tr>
              <a:tr h="533400">
                <a:tc>
                  <a:txBody>
                    <a:bodyPr/>
                    <a:lstStyle/>
                    <a:p>
                      <a:pPr algn="r"/>
                      <a:r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External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Integrated specs</a:t>
                      </a:r>
                    </a:p>
                  </a:txBody>
                </a:tc>
              </a:tr>
              <a:tr h="533400">
                <a:tc>
                  <a:txBody>
                    <a:bodyPr/>
                    <a:lstStyle/>
                    <a:p>
                      <a:pPr algn="r"/>
                      <a:r>
                        <a:t>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Single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Domain-optimized</a:t>
                      </a:r>
                    </a:p>
                  </a:txBody>
                </a:tc>
              </a:tr>
              <a:tr h="533400">
                <a:tc>
                  <a:txBody>
                    <a:bodyPr/>
                    <a:lstStyle/>
                    <a:p>
                      <a:pPr algn="r"/>
                      <a:r>
                        <a:t>Reusability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High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502920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Demonstrated improvements: 50-80% efficiency gains, enhanced reproducibility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Near-Term Steps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1. Community Feedback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Pilot testing in real studies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Refinement based on feedback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Edge cases and exceptions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2. Extension Development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Additional domains (ECG, vital signs, lab markers)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Advanced exposure metrics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Visualization templates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3. Formalization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Pharmaverse working group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{admiral} function extensions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• Potential CDISC submission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Getting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Resources Available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GitHub repository: https://github.com/jeffreyad/er-standards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Complete derivation scripts (ADER, ADEE, ADES, ADTRR)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Example using pharmaverseadam::adpp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ADaM specifications (P21 format + Excel)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Metadata integration examples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Try It Yourself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># Clone repository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>git clone https://github.com/jeffreyad/er-standards.git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># Run derivations with pharmaverseadam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>source('programs/ad_ader.R')  # Uses pharmaverseadam::adpp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Courier New"/>
                <a:cs typeface="Courier New"/>
                <a:ea typeface="Courier New"/>
                <a:sym typeface="Courier New"/>
              </a:rPr>
              <a:t>source('programs/ad_adee.R')  # Time-to-event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Connect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Email: jeff.dickinson@navitaslifesciences.com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GitHub Issues: Feedback welcome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• Pharmaverse Slack: Join the discussion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1. ER data needs standardization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Current state: inconsistent, limited exposure coverage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2. Four specialized datasets proposed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ADER (foundation), ADEE (efficacy), ADES (safety), ADTRR (tumor)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3. Full CDISC compliance achieved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All variables ≤ 8 characters with systematic abbreviations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4. Uses real pharmaverseadam data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ADPP provides actual PK parameters for realistic demonstration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5. {admiral} well-suited for implementation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Modular, validated, community-supported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6. Significant benefits demonstrated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50-80% efficiency gains, enhanced reproducibility, regulatory readiness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7. Community input needed for refinement and adoption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Contact Information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Email: jeff.dickinson@navitaslifesciences.com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GitHub: jeffreyad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LinkedIn: https://www.linkedin.com/in/jeffreyad/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Resources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Repository: https://github.com/jeffreyad/er-standards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Pharmaverse: https://pharmaverse.org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Examples: https://pharmaverse.github.io/examples/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066C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Thank you!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2026-02-02T16:22:25Z</dcterms:modified>
  <cp:category/>
</cp:coreProperties>
</file>